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7" r:id="rId2"/>
    <p:sldId id="259" r:id="rId3"/>
    <p:sldId id="260" r:id="rId4"/>
    <p:sldId id="264" r:id="rId5"/>
    <p:sldId id="265" r:id="rId6"/>
    <p:sldId id="266" r:id="rId7"/>
    <p:sldId id="268" r:id="rId8"/>
    <p:sldId id="269" r:id="rId9"/>
    <p:sldId id="270" r:id="rId10"/>
    <p:sldId id="271" r:id="rId11"/>
    <p:sldId id="272" r:id="rId12"/>
    <p:sldId id="273" r:id="rId13"/>
    <p:sldId id="274" r:id="rId14"/>
    <p:sldId id="275" r:id="rId15"/>
    <p:sldId id="277" r:id="rId16"/>
    <p:sldId id="279" r:id="rId17"/>
    <p:sldId id="278" r:id="rId18"/>
    <p:sldId id="280" r:id="rId19"/>
    <p:sldId id="281"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4A08E6-6C7E-430E-A259-B04E5BA00FC6}" v="25" dt="2025-10-06T12:11:52.2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279" autoAdjust="0"/>
    <p:restoredTop sz="94660"/>
  </p:normalViewPr>
  <p:slideViewPr>
    <p:cSldViewPr snapToGrid="0">
      <p:cViewPr varScale="1">
        <p:scale>
          <a:sx n="78" d="100"/>
          <a:sy n="78" d="100"/>
        </p:scale>
        <p:origin x="68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mya Behara" userId="fcdb0f2e7432dd6c" providerId="LiveId" clId="{AE1C6633-6CBF-4D45-AC26-441B91E7C104}"/>
    <pc:docChg chg="custSel modSld">
      <pc:chgData name="Gamya Behara" userId="fcdb0f2e7432dd6c" providerId="LiveId" clId="{AE1C6633-6CBF-4D45-AC26-441B91E7C104}" dt="2025-10-06T12:11:52.236" v="100"/>
      <pc:docMkLst>
        <pc:docMk/>
      </pc:docMkLst>
      <pc:sldChg chg="addSp delSp modSp mod">
        <pc:chgData name="Gamya Behara" userId="fcdb0f2e7432dd6c" providerId="LiveId" clId="{AE1C6633-6CBF-4D45-AC26-441B91E7C104}" dt="2025-10-06T12:05:38.780" v="41" actId="478"/>
        <pc:sldMkLst>
          <pc:docMk/>
          <pc:sldMk cId="1212410933" sldId="257"/>
        </pc:sldMkLst>
        <pc:spChg chg="add del mod">
          <ac:chgData name="Gamya Behara" userId="fcdb0f2e7432dd6c" providerId="LiveId" clId="{AE1C6633-6CBF-4D45-AC26-441B91E7C104}" dt="2025-10-06T12:05:38.780" v="41" actId="478"/>
          <ac:spMkLst>
            <pc:docMk/>
            <pc:sldMk cId="1212410933" sldId="257"/>
            <ac:spMk id="3" creationId="{05279DE4-7F8F-8CFC-D489-E14815F14D29}"/>
          </ac:spMkLst>
        </pc:spChg>
        <pc:spChg chg="mod">
          <ac:chgData name="Gamya Behara" userId="fcdb0f2e7432dd6c" providerId="LiveId" clId="{AE1C6633-6CBF-4D45-AC26-441B91E7C104}" dt="2025-10-06T12:03:51.349" v="16" actId="113"/>
          <ac:spMkLst>
            <pc:docMk/>
            <pc:sldMk cId="1212410933" sldId="257"/>
            <ac:spMk id="7" creationId="{20DB4299-2DF2-2ADA-FD74-3B00E78EE182}"/>
          </ac:spMkLst>
        </pc:spChg>
        <pc:spChg chg="mod">
          <ac:chgData name="Gamya Behara" userId="fcdb0f2e7432dd6c" providerId="LiveId" clId="{AE1C6633-6CBF-4D45-AC26-441B91E7C104}" dt="2025-10-06T12:04:07.827" v="19" actId="115"/>
          <ac:spMkLst>
            <pc:docMk/>
            <pc:sldMk cId="1212410933" sldId="257"/>
            <ac:spMk id="8" creationId="{86E6A315-03D7-B8D9-8FFF-92C399A93EAA}"/>
          </ac:spMkLst>
        </pc:spChg>
      </pc:sldChg>
      <pc:sldChg chg="addSp delSp modSp mod">
        <pc:chgData name="Gamya Behara" userId="fcdb0f2e7432dd6c" providerId="LiveId" clId="{AE1C6633-6CBF-4D45-AC26-441B91E7C104}" dt="2025-10-06T12:10:32.362" v="72" actId="1076"/>
        <pc:sldMkLst>
          <pc:docMk/>
          <pc:sldMk cId="3083969475" sldId="259"/>
        </pc:sldMkLst>
        <pc:spChg chg="add del mod">
          <ac:chgData name="Gamya Behara" userId="fcdb0f2e7432dd6c" providerId="LiveId" clId="{AE1C6633-6CBF-4D45-AC26-441B91E7C104}" dt="2025-10-06T12:08:09.811" v="48" actId="478"/>
          <ac:spMkLst>
            <pc:docMk/>
            <pc:sldMk cId="3083969475" sldId="259"/>
            <ac:spMk id="3" creationId="{38E3854C-E76B-CB05-6C27-834C6CC22272}"/>
          </ac:spMkLst>
        </pc:spChg>
        <pc:spChg chg="add mod">
          <ac:chgData name="Gamya Behara" userId="fcdb0f2e7432dd6c" providerId="LiveId" clId="{AE1C6633-6CBF-4D45-AC26-441B91E7C104}" dt="2025-10-06T12:10:32.362" v="72" actId="1076"/>
          <ac:spMkLst>
            <pc:docMk/>
            <pc:sldMk cId="3083969475" sldId="259"/>
            <ac:spMk id="5" creationId="{430E0FE2-CD63-8F5B-036C-826F31B22930}"/>
          </ac:spMkLst>
        </pc:spChg>
        <pc:spChg chg="add del mod">
          <ac:chgData name="Gamya Behara" userId="fcdb0f2e7432dd6c" providerId="LiveId" clId="{AE1C6633-6CBF-4D45-AC26-441B91E7C104}" dt="2025-10-06T12:10:04.463" v="66"/>
          <ac:spMkLst>
            <pc:docMk/>
            <pc:sldMk cId="3083969475" sldId="259"/>
            <ac:spMk id="6" creationId="{4345D4E3-57E6-39FC-7FEA-06251C6928E0}"/>
          </ac:spMkLst>
        </pc:spChg>
        <pc:spChg chg="add del mod">
          <ac:chgData name="Gamya Behara" userId="fcdb0f2e7432dd6c" providerId="LiveId" clId="{AE1C6633-6CBF-4D45-AC26-441B91E7C104}" dt="2025-10-06T12:10:04.463" v="64" actId="478"/>
          <ac:spMkLst>
            <pc:docMk/>
            <pc:sldMk cId="3083969475" sldId="259"/>
            <ac:spMk id="7" creationId="{75D71CBA-D454-C39A-E3CF-8C1D464DD759}"/>
          </ac:spMkLst>
        </pc:spChg>
      </pc:sldChg>
      <pc:sldChg chg="addSp delSp modSp mod">
        <pc:chgData name="Gamya Behara" userId="fcdb0f2e7432dd6c" providerId="LiveId" clId="{AE1C6633-6CBF-4D45-AC26-441B91E7C104}" dt="2025-10-06T12:11:52.236" v="100"/>
        <pc:sldMkLst>
          <pc:docMk/>
          <pc:sldMk cId="3341192746" sldId="260"/>
        </pc:sldMkLst>
        <pc:spChg chg="add del mod">
          <ac:chgData name="Gamya Behara" userId="fcdb0f2e7432dd6c" providerId="LiveId" clId="{AE1C6633-6CBF-4D45-AC26-441B91E7C104}" dt="2025-10-06T12:10:54.029" v="76" actId="478"/>
          <ac:spMkLst>
            <pc:docMk/>
            <pc:sldMk cId="3341192746" sldId="260"/>
            <ac:spMk id="3" creationId="{77E350A3-6318-AF67-7146-BCC162478347}"/>
          </ac:spMkLst>
        </pc:spChg>
        <pc:spChg chg="add mod">
          <ac:chgData name="Gamya Behara" userId="fcdb0f2e7432dd6c" providerId="LiveId" clId="{AE1C6633-6CBF-4D45-AC26-441B91E7C104}" dt="2025-10-06T12:11:52.236" v="100"/>
          <ac:spMkLst>
            <pc:docMk/>
            <pc:sldMk cId="3341192746" sldId="260"/>
            <ac:spMk id="5" creationId="{D8751A4C-32D0-896E-F880-78A853E27AFD}"/>
          </ac:spMkLst>
        </pc:spChg>
      </pc:sldChg>
      <pc:sldChg chg="addSp delSp modSp mod">
        <pc:chgData name="Gamya Behara" userId="fcdb0f2e7432dd6c" providerId="LiveId" clId="{AE1C6633-6CBF-4D45-AC26-441B91E7C104}" dt="2025-10-06T12:11:07.940" v="78"/>
        <pc:sldMkLst>
          <pc:docMk/>
          <pc:sldMk cId="2807228180" sldId="264"/>
        </pc:sldMkLst>
        <pc:spChg chg="add del mod">
          <ac:chgData name="Gamya Behara" userId="fcdb0f2e7432dd6c" providerId="LiveId" clId="{AE1C6633-6CBF-4D45-AC26-441B91E7C104}" dt="2025-10-06T12:10:59.421" v="77" actId="478"/>
          <ac:spMkLst>
            <pc:docMk/>
            <pc:sldMk cId="2807228180" sldId="264"/>
            <ac:spMk id="3" creationId="{FA75FDF8-316E-99B4-4AF3-AE32080DDA56}"/>
          </ac:spMkLst>
        </pc:spChg>
        <pc:spChg chg="add mod">
          <ac:chgData name="Gamya Behara" userId="fcdb0f2e7432dd6c" providerId="LiveId" clId="{AE1C6633-6CBF-4D45-AC26-441B91E7C104}" dt="2025-10-06T12:11:07.940" v="78"/>
          <ac:spMkLst>
            <pc:docMk/>
            <pc:sldMk cId="2807228180" sldId="264"/>
            <ac:spMk id="5" creationId="{1FDAB751-DD07-5249-80ED-C1F2F23D8D01}"/>
          </ac:spMkLst>
        </pc:spChg>
      </pc:sldChg>
      <pc:sldChg chg="addSp modSp mod">
        <pc:chgData name="Gamya Behara" userId="fcdb0f2e7432dd6c" providerId="LiveId" clId="{AE1C6633-6CBF-4D45-AC26-441B91E7C104}" dt="2025-10-06T12:11:13.283" v="81" actId="1035"/>
        <pc:sldMkLst>
          <pc:docMk/>
          <pc:sldMk cId="3008305634" sldId="265"/>
        </pc:sldMkLst>
        <pc:spChg chg="add mod">
          <ac:chgData name="Gamya Behara" userId="fcdb0f2e7432dd6c" providerId="LiveId" clId="{AE1C6633-6CBF-4D45-AC26-441B91E7C104}" dt="2025-10-06T12:11:13.283" v="81" actId="1035"/>
          <ac:spMkLst>
            <pc:docMk/>
            <pc:sldMk cId="3008305634" sldId="265"/>
            <ac:spMk id="3" creationId="{BF8500C6-7AB0-5AF7-72ED-14570AE78821}"/>
          </ac:spMkLst>
        </pc:spChg>
      </pc:sldChg>
      <pc:sldChg chg="addSp modSp">
        <pc:chgData name="Gamya Behara" userId="fcdb0f2e7432dd6c" providerId="LiveId" clId="{AE1C6633-6CBF-4D45-AC26-441B91E7C104}" dt="2025-10-06T12:11:15.234" v="82"/>
        <pc:sldMkLst>
          <pc:docMk/>
          <pc:sldMk cId="2423900595" sldId="266"/>
        </pc:sldMkLst>
        <pc:spChg chg="add mod">
          <ac:chgData name="Gamya Behara" userId="fcdb0f2e7432dd6c" providerId="LiveId" clId="{AE1C6633-6CBF-4D45-AC26-441B91E7C104}" dt="2025-10-06T12:11:15.234" v="82"/>
          <ac:spMkLst>
            <pc:docMk/>
            <pc:sldMk cId="2423900595" sldId="266"/>
            <ac:spMk id="3" creationId="{61AF188A-D8FC-5DB4-C3F1-D7D758DD3446}"/>
          </ac:spMkLst>
        </pc:spChg>
      </pc:sldChg>
      <pc:sldChg chg="addSp modSp">
        <pc:chgData name="Gamya Behara" userId="fcdb0f2e7432dd6c" providerId="LiveId" clId="{AE1C6633-6CBF-4D45-AC26-441B91E7C104}" dt="2025-10-06T12:11:16.819" v="83"/>
        <pc:sldMkLst>
          <pc:docMk/>
          <pc:sldMk cId="2201317250" sldId="268"/>
        </pc:sldMkLst>
        <pc:spChg chg="add mod">
          <ac:chgData name="Gamya Behara" userId="fcdb0f2e7432dd6c" providerId="LiveId" clId="{AE1C6633-6CBF-4D45-AC26-441B91E7C104}" dt="2025-10-06T12:11:16.819" v="83"/>
          <ac:spMkLst>
            <pc:docMk/>
            <pc:sldMk cId="2201317250" sldId="268"/>
            <ac:spMk id="3" creationId="{0F92EAF6-2D39-8EA8-FAD3-368CC9E699CA}"/>
          </ac:spMkLst>
        </pc:spChg>
      </pc:sldChg>
      <pc:sldChg chg="addSp modSp mod">
        <pc:chgData name="Gamya Behara" userId="fcdb0f2e7432dd6c" providerId="LiveId" clId="{AE1C6633-6CBF-4D45-AC26-441B91E7C104}" dt="2025-10-06T12:11:20.273" v="86" actId="1035"/>
        <pc:sldMkLst>
          <pc:docMk/>
          <pc:sldMk cId="3686807288" sldId="269"/>
        </pc:sldMkLst>
        <pc:spChg chg="add mod">
          <ac:chgData name="Gamya Behara" userId="fcdb0f2e7432dd6c" providerId="LiveId" clId="{AE1C6633-6CBF-4D45-AC26-441B91E7C104}" dt="2025-10-06T12:11:20.273" v="86" actId="1035"/>
          <ac:spMkLst>
            <pc:docMk/>
            <pc:sldMk cId="3686807288" sldId="269"/>
            <ac:spMk id="3" creationId="{4F9EABCF-E4E1-4AEC-62F7-300CFA0F1FCF}"/>
          </ac:spMkLst>
        </pc:spChg>
      </pc:sldChg>
      <pc:sldChg chg="addSp modSp">
        <pc:chgData name="Gamya Behara" userId="fcdb0f2e7432dd6c" providerId="LiveId" clId="{AE1C6633-6CBF-4D45-AC26-441B91E7C104}" dt="2025-10-06T12:11:21.802" v="87"/>
        <pc:sldMkLst>
          <pc:docMk/>
          <pc:sldMk cId="3366629594" sldId="270"/>
        </pc:sldMkLst>
        <pc:spChg chg="add mod">
          <ac:chgData name="Gamya Behara" userId="fcdb0f2e7432dd6c" providerId="LiveId" clId="{AE1C6633-6CBF-4D45-AC26-441B91E7C104}" dt="2025-10-06T12:11:21.802" v="87"/>
          <ac:spMkLst>
            <pc:docMk/>
            <pc:sldMk cId="3366629594" sldId="270"/>
            <ac:spMk id="3" creationId="{562D7F21-1300-A1E2-A3A1-F4909FCB5BE0}"/>
          </ac:spMkLst>
        </pc:spChg>
      </pc:sldChg>
      <pc:sldChg chg="addSp modSp">
        <pc:chgData name="Gamya Behara" userId="fcdb0f2e7432dd6c" providerId="LiveId" clId="{AE1C6633-6CBF-4D45-AC26-441B91E7C104}" dt="2025-10-06T12:11:23.816" v="88"/>
        <pc:sldMkLst>
          <pc:docMk/>
          <pc:sldMk cId="104228504" sldId="271"/>
        </pc:sldMkLst>
        <pc:spChg chg="add mod">
          <ac:chgData name="Gamya Behara" userId="fcdb0f2e7432dd6c" providerId="LiveId" clId="{AE1C6633-6CBF-4D45-AC26-441B91E7C104}" dt="2025-10-06T12:11:23.816" v="88"/>
          <ac:spMkLst>
            <pc:docMk/>
            <pc:sldMk cId="104228504" sldId="271"/>
            <ac:spMk id="4" creationId="{77387884-8815-93C4-F799-191402863C1C}"/>
          </ac:spMkLst>
        </pc:spChg>
      </pc:sldChg>
      <pc:sldChg chg="addSp modSp">
        <pc:chgData name="Gamya Behara" userId="fcdb0f2e7432dd6c" providerId="LiveId" clId="{AE1C6633-6CBF-4D45-AC26-441B91E7C104}" dt="2025-10-06T12:11:25.205" v="89"/>
        <pc:sldMkLst>
          <pc:docMk/>
          <pc:sldMk cId="1079895750" sldId="272"/>
        </pc:sldMkLst>
        <pc:spChg chg="add mod">
          <ac:chgData name="Gamya Behara" userId="fcdb0f2e7432dd6c" providerId="LiveId" clId="{AE1C6633-6CBF-4D45-AC26-441B91E7C104}" dt="2025-10-06T12:11:25.205" v="89"/>
          <ac:spMkLst>
            <pc:docMk/>
            <pc:sldMk cId="1079895750" sldId="272"/>
            <ac:spMk id="3" creationId="{CED21C41-742F-2A86-3E4B-5B59E2F83B9A}"/>
          </ac:spMkLst>
        </pc:spChg>
      </pc:sldChg>
      <pc:sldChg chg="addSp modSp">
        <pc:chgData name="Gamya Behara" userId="fcdb0f2e7432dd6c" providerId="LiveId" clId="{AE1C6633-6CBF-4D45-AC26-441B91E7C104}" dt="2025-10-06T12:11:26.710" v="90"/>
        <pc:sldMkLst>
          <pc:docMk/>
          <pc:sldMk cId="429911552" sldId="273"/>
        </pc:sldMkLst>
        <pc:spChg chg="add mod">
          <ac:chgData name="Gamya Behara" userId="fcdb0f2e7432dd6c" providerId="LiveId" clId="{AE1C6633-6CBF-4D45-AC26-441B91E7C104}" dt="2025-10-06T12:11:26.710" v="90"/>
          <ac:spMkLst>
            <pc:docMk/>
            <pc:sldMk cId="429911552" sldId="273"/>
            <ac:spMk id="4" creationId="{49261072-0AE7-CA3D-563F-9B2FEAD576BF}"/>
          </ac:spMkLst>
        </pc:spChg>
      </pc:sldChg>
      <pc:sldChg chg="addSp modSp">
        <pc:chgData name="Gamya Behara" userId="fcdb0f2e7432dd6c" providerId="LiveId" clId="{AE1C6633-6CBF-4D45-AC26-441B91E7C104}" dt="2025-10-06T12:11:28.565" v="91"/>
        <pc:sldMkLst>
          <pc:docMk/>
          <pc:sldMk cId="1658982052" sldId="274"/>
        </pc:sldMkLst>
        <pc:spChg chg="add mod">
          <ac:chgData name="Gamya Behara" userId="fcdb0f2e7432dd6c" providerId="LiveId" clId="{AE1C6633-6CBF-4D45-AC26-441B91E7C104}" dt="2025-10-06T12:11:28.565" v="91"/>
          <ac:spMkLst>
            <pc:docMk/>
            <pc:sldMk cId="1658982052" sldId="274"/>
            <ac:spMk id="4" creationId="{62B486F3-6B2C-6DA5-AEA0-3B5ED7F6EDCC}"/>
          </ac:spMkLst>
        </pc:spChg>
      </pc:sldChg>
      <pc:sldChg chg="addSp modSp">
        <pc:chgData name="Gamya Behara" userId="fcdb0f2e7432dd6c" providerId="LiveId" clId="{AE1C6633-6CBF-4D45-AC26-441B91E7C104}" dt="2025-10-06T12:11:30.367" v="92"/>
        <pc:sldMkLst>
          <pc:docMk/>
          <pc:sldMk cId="2865450945" sldId="275"/>
        </pc:sldMkLst>
        <pc:spChg chg="add mod">
          <ac:chgData name="Gamya Behara" userId="fcdb0f2e7432dd6c" providerId="LiveId" clId="{AE1C6633-6CBF-4D45-AC26-441B91E7C104}" dt="2025-10-06T12:11:30.367" v="92"/>
          <ac:spMkLst>
            <pc:docMk/>
            <pc:sldMk cId="2865450945" sldId="275"/>
            <ac:spMk id="4" creationId="{576D687E-7310-B550-A72F-EBE5A584B7B9}"/>
          </ac:spMkLst>
        </pc:spChg>
      </pc:sldChg>
      <pc:sldChg chg="addSp modSp">
        <pc:chgData name="Gamya Behara" userId="fcdb0f2e7432dd6c" providerId="LiveId" clId="{AE1C6633-6CBF-4D45-AC26-441B91E7C104}" dt="2025-10-06T12:11:32.134" v="93"/>
        <pc:sldMkLst>
          <pc:docMk/>
          <pc:sldMk cId="2906816339" sldId="277"/>
        </pc:sldMkLst>
        <pc:spChg chg="add mod">
          <ac:chgData name="Gamya Behara" userId="fcdb0f2e7432dd6c" providerId="LiveId" clId="{AE1C6633-6CBF-4D45-AC26-441B91E7C104}" dt="2025-10-06T12:11:32.134" v="93"/>
          <ac:spMkLst>
            <pc:docMk/>
            <pc:sldMk cId="2906816339" sldId="277"/>
            <ac:spMk id="3" creationId="{28A43C4C-5334-A2FE-28F7-F86E830CD67C}"/>
          </ac:spMkLst>
        </pc:spChg>
      </pc:sldChg>
      <pc:sldChg chg="addSp modSp">
        <pc:chgData name="Gamya Behara" userId="fcdb0f2e7432dd6c" providerId="LiveId" clId="{AE1C6633-6CBF-4D45-AC26-441B91E7C104}" dt="2025-10-06T12:11:35.214" v="95"/>
        <pc:sldMkLst>
          <pc:docMk/>
          <pc:sldMk cId="126171019" sldId="278"/>
        </pc:sldMkLst>
        <pc:spChg chg="add mod">
          <ac:chgData name="Gamya Behara" userId="fcdb0f2e7432dd6c" providerId="LiveId" clId="{AE1C6633-6CBF-4D45-AC26-441B91E7C104}" dt="2025-10-06T12:11:35.214" v="95"/>
          <ac:spMkLst>
            <pc:docMk/>
            <pc:sldMk cId="126171019" sldId="278"/>
            <ac:spMk id="2" creationId="{BE17073B-17EE-B178-6E55-314D9D9F6B21}"/>
          </ac:spMkLst>
        </pc:spChg>
      </pc:sldChg>
      <pc:sldChg chg="addSp modSp">
        <pc:chgData name="Gamya Behara" userId="fcdb0f2e7432dd6c" providerId="LiveId" clId="{AE1C6633-6CBF-4D45-AC26-441B91E7C104}" dt="2025-10-06T12:11:33.680" v="94"/>
        <pc:sldMkLst>
          <pc:docMk/>
          <pc:sldMk cId="2782338835" sldId="279"/>
        </pc:sldMkLst>
        <pc:spChg chg="add mod">
          <ac:chgData name="Gamya Behara" userId="fcdb0f2e7432dd6c" providerId="LiveId" clId="{AE1C6633-6CBF-4D45-AC26-441B91E7C104}" dt="2025-10-06T12:11:33.680" v="94"/>
          <ac:spMkLst>
            <pc:docMk/>
            <pc:sldMk cId="2782338835" sldId="279"/>
            <ac:spMk id="5" creationId="{CF67D284-E0F3-3EC1-3DEB-9E210CAD6393}"/>
          </ac:spMkLst>
        </pc:spChg>
      </pc:sldChg>
      <pc:sldChg chg="addSp modSp mod">
        <pc:chgData name="Gamya Behara" userId="fcdb0f2e7432dd6c" providerId="LiveId" clId="{AE1C6633-6CBF-4D45-AC26-441B91E7C104}" dt="2025-10-06T12:11:39.111" v="98" actId="1035"/>
        <pc:sldMkLst>
          <pc:docMk/>
          <pc:sldMk cId="564544688" sldId="280"/>
        </pc:sldMkLst>
        <pc:spChg chg="add mod">
          <ac:chgData name="Gamya Behara" userId="fcdb0f2e7432dd6c" providerId="LiveId" clId="{AE1C6633-6CBF-4D45-AC26-441B91E7C104}" dt="2025-10-06T12:11:39.111" v="98" actId="1035"/>
          <ac:spMkLst>
            <pc:docMk/>
            <pc:sldMk cId="564544688" sldId="280"/>
            <ac:spMk id="3" creationId="{5376546C-C27A-5E50-8409-6928DA7157B8}"/>
          </ac:spMkLst>
        </pc:spChg>
      </pc:sldChg>
      <pc:sldChg chg="addSp modSp">
        <pc:chgData name="Gamya Behara" userId="fcdb0f2e7432dd6c" providerId="LiveId" clId="{AE1C6633-6CBF-4D45-AC26-441B91E7C104}" dt="2025-10-06T12:11:42.029" v="99"/>
        <pc:sldMkLst>
          <pc:docMk/>
          <pc:sldMk cId="3651224343" sldId="281"/>
        </pc:sldMkLst>
        <pc:spChg chg="add mod">
          <ac:chgData name="Gamya Behara" userId="fcdb0f2e7432dd6c" providerId="LiveId" clId="{AE1C6633-6CBF-4D45-AC26-441B91E7C104}" dt="2025-10-06T12:11:42.029" v="99"/>
          <ac:spMkLst>
            <pc:docMk/>
            <pc:sldMk cId="3651224343" sldId="281"/>
            <ac:spMk id="3" creationId="{525EADC9-9EAA-9248-1696-EAFD88D4D46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E81CA0-0AAC-4172-A548-761F73501C2E}" type="datetimeFigureOut">
              <a:rPr lang="en-IN" smtClean="0"/>
              <a:t>06-10-2025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B35CDA-66EB-4A19-937A-63FEEF58B8BD}" type="slidenum">
              <a:rPr lang="en-IN" smtClean="0"/>
              <a:t>‹#›</a:t>
            </a:fld>
            <a:endParaRPr lang="en-IN"/>
          </a:p>
        </p:txBody>
      </p:sp>
    </p:spTree>
    <p:extLst>
      <p:ext uri="{BB962C8B-B14F-4D97-AF65-F5344CB8AC3E}">
        <p14:creationId xmlns:p14="http://schemas.microsoft.com/office/powerpoint/2010/main" val="781004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D18ED6-51B0-48BB-9D8D-BA5F9FFE6DF6}" type="datetimeFigureOut">
              <a:rPr lang="en-IN" smtClean="0"/>
              <a:t>06-10-2025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DB3243-7F13-4EC1-BB44-4BCD10E6E285}"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2167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D18ED6-51B0-48BB-9D8D-BA5F9FFE6DF6}" type="datetimeFigureOut">
              <a:rPr lang="en-IN" smtClean="0"/>
              <a:t>06-10-2025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DB3243-7F13-4EC1-BB44-4BCD10E6E285}" type="slidenum">
              <a:rPr lang="en-IN" smtClean="0"/>
              <a:t>‹#›</a:t>
            </a:fld>
            <a:endParaRPr lang="en-IN"/>
          </a:p>
        </p:txBody>
      </p:sp>
    </p:spTree>
    <p:extLst>
      <p:ext uri="{BB962C8B-B14F-4D97-AF65-F5344CB8AC3E}">
        <p14:creationId xmlns:p14="http://schemas.microsoft.com/office/powerpoint/2010/main" val="826279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D18ED6-51B0-48BB-9D8D-BA5F9FFE6DF6}" type="datetimeFigureOut">
              <a:rPr lang="en-IN" smtClean="0"/>
              <a:t>06-10-2025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DB3243-7F13-4EC1-BB44-4BCD10E6E285}"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1132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7D18ED6-51B0-48BB-9D8D-BA5F9FFE6DF6}" type="datetimeFigureOut">
              <a:rPr lang="en-IN" smtClean="0"/>
              <a:t>06-10-2025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DB3243-7F13-4EC1-BB44-4BCD10E6E285}" type="slidenum">
              <a:rPr lang="en-IN" smtClean="0"/>
              <a:t>‹#›</a:t>
            </a:fld>
            <a:endParaRPr lang="en-IN"/>
          </a:p>
        </p:txBody>
      </p:sp>
    </p:spTree>
    <p:extLst>
      <p:ext uri="{BB962C8B-B14F-4D97-AF65-F5344CB8AC3E}">
        <p14:creationId xmlns:p14="http://schemas.microsoft.com/office/powerpoint/2010/main" val="3237934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D18ED6-51B0-48BB-9D8D-BA5F9FFE6DF6}" type="datetimeFigureOut">
              <a:rPr lang="en-IN" smtClean="0"/>
              <a:t>06-10-2025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6DB3243-7F13-4EC1-BB44-4BCD10E6E285}" type="slidenum">
              <a:rPr lang="en-IN" smtClean="0"/>
              <a:t>‹#›</a:t>
            </a:fld>
            <a:endParaRPr lang="en-IN"/>
          </a:p>
        </p:txBody>
      </p:sp>
    </p:spTree>
    <p:extLst>
      <p:ext uri="{BB962C8B-B14F-4D97-AF65-F5344CB8AC3E}">
        <p14:creationId xmlns:p14="http://schemas.microsoft.com/office/powerpoint/2010/main" val="3715957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D18ED6-51B0-48BB-9D8D-BA5F9FFE6DF6}" type="datetimeFigureOut">
              <a:rPr lang="en-IN" smtClean="0"/>
              <a:t>06-10-2025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6DB3243-7F13-4EC1-BB44-4BCD10E6E285}" type="slidenum">
              <a:rPr lang="en-IN" smtClean="0"/>
              <a:t>‹#›</a:t>
            </a:fld>
            <a:endParaRPr lang="en-IN"/>
          </a:p>
        </p:txBody>
      </p:sp>
    </p:spTree>
    <p:extLst>
      <p:ext uri="{BB962C8B-B14F-4D97-AF65-F5344CB8AC3E}">
        <p14:creationId xmlns:p14="http://schemas.microsoft.com/office/powerpoint/2010/main" val="3078991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7D18ED6-51B0-48BB-9D8D-BA5F9FFE6DF6}" type="datetimeFigureOut">
              <a:rPr lang="en-IN" smtClean="0"/>
              <a:t>06-10-2025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36DB3243-7F13-4EC1-BB44-4BCD10E6E285}" type="slidenum">
              <a:rPr lang="en-IN" smtClean="0"/>
              <a:t>‹#›</a:t>
            </a:fld>
            <a:endParaRPr lang="en-IN"/>
          </a:p>
        </p:txBody>
      </p:sp>
    </p:spTree>
    <p:extLst>
      <p:ext uri="{BB962C8B-B14F-4D97-AF65-F5344CB8AC3E}">
        <p14:creationId xmlns:p14="http://schemas.microsoft.com/office/powerpoint/2010/main" val="2869071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7D18ED6-51B0-48BB-9D8D-BA5F9FFE6DF6}" type="datetimeFigureOut">
              <a:rPr lang="en-IN" smtClean="0"/>
              <a:t>06-10-2025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6DB3243-7F13-4EC1-BB44-4BCD10E6E285}" type="slidenum">
              <a:rPr lang="en-IN" smtClean="0"/>
              <a:t>‹#›</a:t>
            </a:fld>
            <a:endParaRPr lang="en-IN"/>
          </a:p>
        </p:txBody>
      </p:sp>
    </p:spTree>
    <p:extLst>
      <p:ext uri="{BB962C8B-B14F-4D97-AF65-F5344CB8AC3E}">
        <p14:creationId xmlns:p14="http://schemas.microsoft.com/office/powerpoint/2010/main" val="312288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D18ED6-51B0-48BB-9D8D-BA5F9FFE6DF6}" type="datetimeFigureOut">
              <a:rPr lang="en-IN" smtClean="0"/>
              <a:t>06-10-2025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DB3243-7F13-4EC1-BB44-4BCD10E6E285}" type="slidenum">
              <a:rPr lang="en-IN" smtClean="0"/>
              <a:t>‹#›</a:t>
            </a:fld>
            <a:endParaRPr lang="en-IN"/>
          </a:p>
        </p:txBody>
      </p:sp>
    </p:spTree>
    <p:extLst>
      <p:ext uri="{BB962C8B-B14F-4D97-AF65-F5344CB8AC3E}">
        <p14:creationId xmlns:p14="http://schemas.microsoft.com/office/powerpoint/2010/main" val="3381729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D18ED6-51B0-48BB-9D8D-BA5F9FFE6DF6}" type="datetimeFigureOut">
              <a:rPr lang="en-IN" smtClean="0"/>
              <a:t>06-10-2025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DB3243-7F13-4EC1-BB44-4BCD10E6E285}" type="slidenum">
              <a:rPr lang="en-IN" smtClean="0"/>
              <a:t>‹#›</a:t>
            </a:fld>
            <a:endParaRPr lang="en-IN"/>
          </a:p>
        </p:txBody>
      </p:sp>
    </p:spTree>
    <p:extLst>
      <p:ext uri="{BB962C8B-B14F-4D97-AF65-F5344CB8AC3E}">
        <p14:creationId xmlns:p14="http://schemas.microsoft.com/office/powerpoint/2010/main" val="2111196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D18ED6-51B0-48BB-9D8D-BA5F9FFE6DF6}" type="datetimeFigureOut">
              <a:rPr lang="en-IN" smtClean="0"/>
              <a:t>06-10-2025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DB3243-7F13-4EC1-BB44-4BCD10E6E285}" type="slidenum">
              <a:rPr lang="en-IN" smtClean="0"/>
              <a:t>‹#›</a:t>
            </a:fld>
            <a:endParaRPr lang="en-IN"/>
          </a:p>
        </p:txBody>
      </p:sp>
    </p:spTree>
    <p:extLst>
      <p:ext uri="{BB962C8B-B14F-4D97-AF65-F5344CB8AC3E}">
        <p14:creationId xmlns:p14="http://schemas.microsoft.com/office/powerpoint/2010/main" val="2663589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7D18ED6-51B0-48BB-9D8D-BA5F9FFE6DF6}" type="datetimeFigureOut">
              <a:rPr lang="en-IN" smtClean="0"/>
              <a:t>06-10-2025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36DB3243-7F13-4EC1-BB44-4BCD10E6E285}"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57803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GamyaBehara/BIG-DATA-ANALYTICS/tree/Main/MINI%20PROJECT" TargetMode="External"/><Relationship Id="rId2" Type="http://schemas.openxmlformats.org/officeDocument/2006/relationships/hyperlink" Target="https://www.kaggle.com/datasets/pavansubhasht/ibm-hr-analytics-attrition-dataset%20&#128279;" TargetMode="External"/><Relationship Id="rId1" Type="http://schemas.openxmlformats.org/officeDocument/2006/relationships/slideLayout" Target="../slideLayouts/slideLayout7.xml"/><Relationship Id="rId4" Type="http://schemas.openxmlformats.org/officeDocument/2006/relationships/hyperlink" Target="mailto:beherasrigamya@gmail.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hyperlink" Target="https://www.kaggle.com/datasets/pavansubhasht/ibm-hr-analytics-attrition-dataset%20&#128279;"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74397E-3DA5-0AE6-0497-44AB5B3748BB}"/>
              </a:ext>
            </a:extLst>
          </p:cNvPr>
          <p:cNvSpPr txBox="1"/>
          <p:nvPr/>
        </p:nvSpPr>
        <p:spPr>
          <a:xfrm>
            <a:off x="196644" y="1933704"/>
            <a:ext cx="12418143" cy="646331"/>
          </a:xfrm>
          <a:prstGeom prst="rect">
            <a:avLst/>
          </a:prstGeom>
          <a:noFill/>
        </p:spPr>
        <p:txBody>
          <a:bodyPr wrap="square" rtlCol="0">
            <a:spAutoFit/>
          </a:bodyPr>
          <a:lstStyle/>
          <a:p>
            <a:r>
              <a:rPr lang="en-IN" sz="3600" b="1" dirty="0"/>
              <a:t>IBM HR Analytics Employee Attrition &amp; Performance Analysis</a:t>
            </a:r>
          </a:p>
        </p:txBody>
      </p:sp>
      <p:cxnSp>
        <p:nvCxnSpPr>
          <p:cNvPr id="5" name="Straight Connector 4">
            <a:extLst>
              <a:ext uri="{FF2B5EF4-FFF2-40B4-BE49-F238E27FC236}">
                <a16:creationId xmlns:a16="http://schemas.microsoft.com/office/drawing/2014/main" id="{4BE77BAF-02F1-1EA2-5674-5D991A201758}"/>
              </a:ext>
            </a:extLst>
          </p:cNvPr>
          <p:cNvCxnSpPr>
            <a:cxnSpLocks/>
          </p:cNvCxnSpPr>
          <p:nvPr/>
        </p:nvCxnSpPr>
        <p:spPr>
          <a:xfrm>
            <a:off x="344129" y="2580035"/>
            <a:ext cx="11522751" cy="0"/>
          </a:xfrm>
          <a:prstGeom prst="line">
            <a:avLst/>
          </a:prstGeom>
        </p:spPr>
        <p:style>
          <a:lnRef idx="2">
            <a:schemeClr val="dk1"/>
          </a:lnRef>
          <a:fillRef idx="0">
            <a:schemeClr val="dk1"/>
          </a:fillRef>
          <a:effectRef idx="1">
            <a:schemeClr val="dk1"/>
          </a:effectRef>
          <a:fontRef idx="minor">
            <a:schemeClr val="tx1"/>
          </a:fontRef>
        </p:style>
      </p:cxnSp>
      <p:sp>
        <p:nvSpPr>
          <p:cNvPr id="7" name="TextBox 6">
            <a:extLst>
              <a:ext uri="{FF2B5EF4-FFF2-40B4-BE49-F238E27FC236}">
                <a16:creationId xmlns:a16="http://schemas.microsoft.com/office/drawing/2014/main" id="{20DB4299-2DF2-2ADA-FD74-3B00E78EE182}"/>
              </a:ext>
            </a:extLst>
          </p:cNvPr>
          <p:cNvSpPr txBox="1"/>
          <p:nvPr/>
        </p:nvSpPr>
        <p:spPr>
          <a:xfrm>
            <a:off x="196644" y="3032194"/>
            <a:ext cx="7062511" cy="584775"/>
          </a:xfrm>
          <a:prstGeom prst="rect">
            <a:avLst/>
          </a:prstGeom>
          <a:noFill/>
        </p:spPr>
        <p:txBody>
          <a:bodyPr wrap="square" rtlCol="0">
            <a:spAutoFit/>
          </a:bodyPr>
          <a:lstStyle/>
          <a:p>
            <a:r>
              <a:rPr lang="en-IN" sz="1600" b="1" dirty="0"/>
              <a:t>dataset – </a:t>
            </a:r>
            <a:r>
              <a:rPr lang="en-IN" sz="1600" dirty="0">
                <a:hlinkClick r:id="rId2"/>
              </a:rPr>
              <a:t>IBM HR Analytics Employee Attrition &amp; Performance Analysis</a:t>
            </a:r>
            <a:endParaRPr lang="en-IN" sz="1600" dirty="0"/>
          </a:p>
          <a:p>
            <a:r>
              <a:rPr lang="en-IN" sz="1600" b="1" dirty="0"/>
              <a:t>source –  </a:t>
            </a:r>
            <a:r>
              <a:rPr lang="en-IN" sz="1600" dirty="0" err="1">
                <a:hlinkClick r:id="rId3"/>
              </a:rPr>
              <a:t>Github</a:t>
            </a:r>
            <a:r>
              <a:rPr lang="en-IN" sz="1600" dirty="0">
                <a:hlinkClick r:id="rId3"/>
              </a:rPr>
              <a:t> Repository</a:t>
            </a:r>
            <a:endParaRPr lang="en-IN" sz="1600" dirty="0"/>
          </a:p>
        </p:txBody>
      </p:sp>
      <p:sp>
        <p:nvSpPr>
          <p:cNvPr id="8" name="TextBox 7">
            <a:extLst>
              <a:ext uri="{FF2B5EF4-FFF2-40B4-BE49-F238E27FC236}">
                <a16:creationId xmlns:a16="http://schemas.microsoft.com/office/drawing/2014/main" id="{86E6A315-03D7-B8D9-8FFF-92C399A93EAA}"/>
              </a:ext>
            </a:extLst>
          </p:cNvPr>
          <p:cNvSpPr txBox="1"/>
          <p:nvPr/>
        </p:nvSpPr>
        <p:spPr>
          <a:xfrm>
            <a:off x="196643" y="4277965"/>
            <a:ext cx="7062511" cy="1323439"/>
          </a:xfrm>
          <a:prstGeom prst="rect">
            <a:avLst/>
          </a:prstGeom>
          <a:noFill/>
        </p:spPr>
        <p:txBody>
          <a:bodyPr wrap="square" rtlCol="0">
            <a:spAutoFit/>
          </a:bodyPr>
          <a:lstStyle/>
          <a:p>
            <a:r>
              <a:rPr lang="en-IN" sz="1600" b="1" dirty="0"/>
              <a:t>Name:                B GAMYA SRI</a:t>
            </a:r>
          </a:p>
          <a:p>
            <a:r>
              <a:rPr lang="en-IN" sz="1600" b="1" dirty="0"/>
              <a:t>Email:                 </a:t>
            </a:r>
            <a:r>
              <a:rPr lang="en-IN" sz="1600" dirty="0">
                <a:hlinkClick r:id="rId4"/>
              </a:rPr>
              <a:t>beherasrigamya@gmail.com</a:t>
            </a:r>
            <a:endParaRPr lang="en-IN" sz="1600" dirty="0"/>
          </a:p>
          <a:p>
            <a:r>
              <a:rPr lang="en-IN" sz="1600" b="1" dirty="0"/>
              <a:t>Phone:               91-6309328271</a:t>
            </a:r>
          </a:p>
          <a:p>
            <a:r>
              <a:rPr lang="en-IN" sz="1600" b="1" dirty="0" err="1"/>
              <a:t>Linkedin</a:t>
            </a:r>
            <a:r>
              <a:rPr lang="en-IN" sz="1600" b="1" dirty="0"/>
              <a:t>:           linkedin.com/in/</a:t>
            </a:r>
            <a:r>
              <a:rPr lang="en-IN" sz="1600" b="1" dirty="0" err="1"/>
              <a:t>gamyabehara</a:t>
            </a:r>
            <a:r>
              <a:rPr lang="en-IN" sz="1600" b="1" dirty="0"/>
              <a:t>/</a:t>
            </a:r>
          </a:p>
          <a:p>
            <a:r>
              <a:rPr lang="en-IN" sz="1600" b="1" dirty="0" err="1"/>
              <a:t>Github</a:t>
            </a:r>
            <a:r>
              <a:rPr lang="en-IN" sz="1600" b="1" dirty="0"/>
              <a:t>:              github.com/</a:t>
            </a:r>
            <a:r>
              <a:rPr lang="en-IN" sz="1600" b="1" dirty="0" err="1"/>
              <a:t>GamyaBehara</a:t>
            </a:r>
            <a:endParaRPr lang="en-IN" sz="1600" b="1" dirty="0"/>
          </a:p>
        </p:txBody>
      </p:sp>
    </p:spTree>
    <p:extLst>
      <p:ext uri="{BB962C8B-B14F-4D97-AF65-F5344CB8AC3E}">
        <p14:creationId xmlns:p14="http://schemas.microsoft.com/office/powerpoint/2010/main" val="1212410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62314E-C3FA-A4CE-6EBB-1B189D0843B4}"/>
              </a:ext>
            </a:extLst>
          </p:cNvPr>
          <p:cNvSpPr txBox="1"/>
          <p:nvPr/>
        </p:nvSpPr>
        <p:spPr>
          <a:xfrm>
            <a:off x="274320" y="477520"/>
            <a:ext cx="11399520" cy="769441"/>
          </a:xfrm>
          <a:prstGeom prst="rect">
            <a:avLst/>
          </a:prstGeom>
          <a:noFill/>
        </p:spPr>
        <p:txBody>
          <a:bodyPr wrap="square" rtlCol="0">
            <a:spAutoFit/>
          </a:bodyPr>
          <a:lstStyle/>
          <a:p>
            <a:r>
              <a:rPr lang="en-IN" sz="4400" dirty="0"/>
              <a:t>INTRODUCTION</a:t>
            </a:r>
          </a:p>
        </p:txBody>
      </p:sp>
      <p:sp>
        <p:nvSpPr>
          <p:cNvPr id="4" name="TextBox 3">
            <a:extLst>
              <a:ext uri="{FF2B5EF4-FFF2-40B4-BE49-F238E27FC236}">
                <a16:creationId xmlns:a16="http://schemas.microsoft.com/office/drawing/2014/main" id="{C83DB6E5-A227-16F3-AC16-934E57554150}"/>
              </a:ext>
            </a:extLst>
          </p:cNvPr>
          <p:cNvSpPr txBox="1"/>
          <p:nvPr/>
        </p:nvSpPr>
        <p:spPr>
          <a:xfrm>
            <a:off x="274320" y="1452880"/>
            <a:ext cx="11267440" cy="3511859"/>
          </a:xfrm>
          <a:prstGeom prst="rect">
            <a:avLst/>
          </a:prstGeom>
          <a:noFill/>
        </p:spPr>
        <p:txBody>
          <a:bodyPr wrap="square" rtlCol="0">
            <a:spAutoFit/>
          </a:bodyPr>
          <a:lstStyle/>
          <a:p>
            <a:pPr algn="just">
              <a:lnSpc>
                <a:spcPct val="200000"/>
              </a:lnSpc>
            </a:pPr>
            <a:r>
              <a:rPr lang="en-US" dirty="0"/>
              <a:t>This project presents an analytical overview of employee data from the IBM HR Analytics dataset, focusing on:</a:t>
            </a:r>
          </a:p>
          <a:p>
            <a:pPr marL="742950" lvl="1" indent="-285750" algn="just">
              <a:lnSpc>
                <a:spcPct val="150000"/>
              </a:lnSpc>
              <a:buFont typeface="Arial" panose="020B0604020202020204" pitchFamily="34" charset="0"/>
              <a:buChar char="•"/>
            </a:pPr>
            <a:r>
              <a:rPr lang="en-US" dirty="0"/>
              <a:t>Patterns behind employee attrition</a:t>
            </a:r>
          </a:p>
          <a:p>
            <a:pPr marL="742950" lvl="1" indent="-285750" algn="just">
              <a:lnSpc>
                <a:spcPct val="150000"/>
              </a:lnSpc>
              <a:buFont typeface="Arial" panose="020B0604020202020204" pitchFamily="34" charset="0"/>
              <a:buChar char="•"/>
            </a:pPr>
            <a:r>
              <a:rPr lang="en-US" dirty="0"/>
              <a:t>Departmental and job role trends</a:t>
            </a:r>
          </a:p>
          <a:p>
            <a:pPr marL="742950" lvl="1" indent="-285750" algn="just">
              <a:lnSpc>
                <a:spcPct val="150000"/>
              </a:lnSpc>
              <a:buFont typeface="Arial" panose="020B0604020202020204" pitchFamily="34" charset="0"/>
              <a:buChar char="•"/>
            </a:pPr>
            <a:r>
              <a:rPr lang="en-US" dirty="0"/>
              <a:t>Salary and age distributions</a:t>
            </a:r>
          </a:p>
          <a:p>
            <a:pPr marL="742950" lvl="1" indent="-285750" algn="just">
              <a:lnSpc>
                <a:spcPct val="150000"/>
              </a:lnSpc>
              <a:buFont typeface="Arial" panose="020B0604020202020204" pitchFamily="34" charset="0"/>
              <a:buChar char="•"/>
            </a:pPr>
            <a:r>
              <a:rPr lang="en-US" dirty="0"/>
              <a:t>Work-life balance and satisfaction metrics</a:t>
            </a:r>
          </a:p>
          <a:p>
            <a:pPr marL="742950" lvl="1" indent="-285750" algn="just">
              <a:lnSpc>
                <a:spcPct val="150000"/>
              </a:lnSpc>
              <a:buFont typeface="Arial" panose="020B0604020202020204" pitchFamily="34" charset="0"/>
              <a:buChar char="•"/>
            </a:pPr>
            <a:r>
              <a:rPr lang="en-US" dirty="0"/>
              <a:t>Performance-related insights</a:t>
            </a:r>
          </a:p>
          <a:p>
            <a:pPr marL="742950" lvl="1" indent="-285750" algn="just">
              <a:lnSpc>
                <a:spcPct val="150000"/>
              </a:lnSpc>
              <a:buFont typeface="Arial" panose="020B0604020202020204" pitchFamily="34" charset="0"/>
              <a:buChar char="•"/>
            </a:pPr>
            <a:r>
              <a:rPr lang="en-US" dirty="0"/>
              <a:t>Key factors influencing retention</a:t>
            </a:r>
          </a:p>
          <a:p>
            <a:pPr algn="just">
              <a:lnSpc>
                <a:spcPct val="150000"/>
              </a:lnSpc>
            </a:pPr>
            <a:endParaRPr lang="en-IN" dirty="0"/>
          </a:p>
        </p:txBody>
      </p:sp>
      <p:sp>
        <p:nvSpPr>
          <p:cNvPr id="5" name="TextBox 4">
            <a:extLst>
              <a:ext uri="{FF2B5EF4-FFF2-40B4-BE49-F238E27FC236}">
                <a16:creationId xmlns:a16="http://schemas.microsoft.com/office/drawing/2014/main" id="{430E0FE2-CD63-8F5B-036C-826F31B22930}"/>
              </a:ext>
            </a:extLst>
          </p:cNvPr>
          <p:cNvSpPr txBox="1"/>
          <p:nvPr/>
        </p:nvSpPr>
        <p:spPr>
          <a:xfrm>
            <a:off x="10647025" y="6468970"/>
            <a:ext cx="1789470" cy="307777"/>
          </a:xfrm>
          <a:prstGeom prst="rect">
            <a:avLst/>
          </a:prstGeom>
          <a:noFill/>
        </p:spPr>
        <p:txBody>
          <a:bodyPr wrap="square" rtlCol="0">
            <a:spAutoFit/>
          </a:bodyPr>
          <a:lstStyle/>
          <a:p>
            <a:r>
              <a:rPr lang="en-US" sz="1400" dirty="0"/>
              <a:t>GAMYA BEHARA</a:t>
            </a:r>
            <a:endParaRPr lang="en-IN" sz="1400" dirty="0"/>
          </a:p>
        </p:txBody>
      </p:sp>
    </p:spTree>
    <p:extLst>
      <p:ext uri="{BB962C8B-B14F-4D97-AF65-F5344CB8AC3E}">
        <p14:creationId xmlns:p14="http://schemas.microsoft.com/office/powerpoint/2010/main" val="3083969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5741C-0FAC-E6D3-0C95-160D8E73980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DB2EF43-6AB6-71FC-3532-F8B01DDFB835}"/>
              </a:ext>
            </a:extLst>
          </p:cNvPr>
          <p:cNvSpPr txBox="1"/>
          <p:nvPr/>
        </p:nvSpPr>
        <p:spPr>
          <a:xfrm>
            <a:off x="274320" y="477520"/>
            <a:ext cx="11399520" cy="769441"/>
          </a:xfrm>
          <a:prstGeom prst="rect">
            <a:avLst/>
          </a:prstGeom>
          <a:noFill/>
        </p:spPr>
        <p:txBody>
          <a:bodyPr wrap="square" rtlCol="0">
            <a:spAutoFit/>
          </a:bodyPr>
          <a:lstStyle/>
          <a:p>
            <a:r>
              <a:rPr lang="en-IN" sz="4400" dirty="0"/>
              <a:t>ANALYSIS OF THE DATASET</a:t>
            </a:r>
          </a:p>
        </p:txBody>
      </p:sp>
      <p:sp>
        <p:nvSpPr>
          <p:cNvPr id="4" name="TextBox 3">
            <a:extLst>
              <a:ext uri="{FF2B5EF4-FFF2-40B4-BE49-F238E27FC236}">
                <a16:creationId xmlns:a16="http://schemas.microsoft.com/office/drawing/2014/main" id="{00D4DA89-A195-2CD4-331D-0C8FBBB40262}"/>
              </a:ext>
            </a:extLst>
          </p:cNvPr>
          <p:cNvSpPr txBox="1"/>
          <p:nvPr/>
        </p:nvSpPr>
        <p:spPr>
          <a:xfrm>
            <a:off x="274320" y="1452880"/>
            <a:ext cx="11562080" cy="3788858"/>
          </a:xfrm>
          <a:prstGeom prst="rect">
            <a:avLst/>
          </a:prstGeom>
          <a:noFill/>
        </p:spPr>
        <p:txBody>
          <a:bodyPr wrap="square" rtlCol="0">
            <a:spAutoFit/>
          </a:bodyPr>
          <a:lstStyle/>
          <a:p>
            <a:pPr algn="just">
              <a:lnSpc>
                <a:spcPct val="150000"/>
              </a:lnSpc>
            </a:pPr>
            <a:r>
              <a:rPr lang="en-US" dirty="0"/>
              <a:t>The IBM HR Analytics Employee Attrition &amp; Performance dataset is a fictional dataset created by IBM data scientists to study factors influencing employee attrition (turnover). It helps analyze patterns related to workforce demographics, compensation, satisfaction, and performance to uncover key drivers behind why employees leave an organization.</a:t>
            </a:r>
          </a:p>
          <a:p>
            <a:pPr>
              <a:lnSpc>
                <a:spcPct val="150000"/>
              </a:lnSpc>
            </a:pPr>
            <a:endParaRPr lang="en-US" dirty="0"/>
          </a:p>
          <a:p>
            <a:pPr>
              <a:lnSpc>
                <a:spcPct val="150000"/>
              </a:lnSpc>
            </a:pPr>
            <a:r>
              <a:rPr lang="en-IN" sz="1850" b="1" dirty="0"/>
              <a:t>1. Dataset Details:</a:t>
            </a:r>
          </a:p>
          <a:p>
            <a:pPr>
              <a:lnSpc>
                <a:spcPct val="150000"/>
              </a:lnSpc>
            </a:pPr>
            <a:r>
              <a:rPr lang="en-IN" dirty="0"/>
              <a:t>Total Records: 1,470 employees</a:t>
            </a:r>
          </a:p>
          <a:p>
            <a:pPr>
              <a:lnSpc>
                <a:spcPct val="150000"/>
              </a:lnSpc>
            </a:pPr>
            <a:r>
              <a:rPr lang="en-IN" dirty="0"/>
              <a:t>Features: 35 attributes covering personal, professional, and satisfaction metrics</a:t>
            </a:r>
          </a:p>
          <a:p>
            <a:pPr>
              <a:lnSpc>
                <a:spcPct val="150000"/>
              </a:lnSpc>
            </a:pPr>
            <a:r>
              <a:rPr lang="en-IN" dirty="0"/>
              <a:t>Target Variable: </a:t>
            </a:r>
            <a:r>
              <a:rPr lang="en-IN" i="1" dirty="0"/>
              <a:t>Attrition (Yes/No)</a:t>
            </a:r>
            <a:endParaRPr lang="en-IN" dirty="0"/>
          </a:p>
          <a:p>
            <a:pPr>
              <a:lnSpc>
                <a:spcPct val="150000"/>
              </a:lnSpc>
            </a:pPr>
            <a:r>
              <a:rPr lang="en-IN" dirty="0"/>
              <a:t>Source: </a:t>
            </a:r>
            <a:r>
              <a:rPr lang="en-IN" dirty="0">
                <a:hlinkClick r:id="rId2"/>
              </a:rPr>
              <a:t>IBM HR Analytics Employee Attrition &amp; Performance Analysis</a:t>
            </a:r>
            <a:endParaRPr lang="en-IN" dirty="0"/>
          </a:p>
        </p:txBody>
      </p:sp>
      <p:sp>
        <p:nvSpPr>
          <p:cNvPr id="5" name="TextBox 4">
            <a:extLst>
              <a:ext uri="{FF2B5EF4-FFF2-40B4-BE49-F238E27FC236}">
                <a16:creationId xmlns:a16="http://schemas.microsoft.com/office/drawing/2014/main" id="{D8751A4C-32D0-896E-F880-78A853E27AFD}"/>
              </a:ext>
            </a:extLst>
          </p:cNvPr>
          <p:cNvSpPr txBox="1"/>
          <p:nvPr/>
        </p:nvSpPr>
        <p:spPr>
          <a:xfrm>
            <a:off x="10647025" y="6468970"/>
            <a:ext cx="1789470" cy="307777"/>
          </a:xfrm>
          <a:prstGeom prst="rect">
            <a:avLst/>
          </a:prstGeom>
          <a:noFill/>
        </p:spPr>
        <p:txBody>
          <a:bodyPr wrap="square" rtlCol="0">
            <a:spAutoFit/>
          </a:bodyPr>
          <a:lstStyle/>
          <a:p>
            <a:r>
              <a:rPr lang="en-US" sz="1400" dirty="0"/>
              <a:t>GAMYA BEHARA</a:t>
            </a:r>
            <a:endParaRPr lang="en-IN" sz="1400" dirty="0"/>
          </a:p>
        </p:txBody>
      </p:sp>
    </p:spTree>
    <p:extLst>
      <p:ext uri="{BB962C8B-B14F-4D97-AF65-F5344CB8AC3E}">
        <p14:creationId xmlns:p14="http://schemas.microsoft.com/office/powerpoint/2010/main" val="3341192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016F8-E424-8EBF-5215-D4854FC5FAC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BA15B6B-99DF-313D-5CA4-50B1B2AE97D1}"/>
              </a:ext>
            </a:extLst>
          </p:cNvPr>
          <p:cNvSpPr txBox="1"/>
          <p:nvPr/>
        </p:nvSpPr>
        <p:spPr>
          <a:xfrm>
            <a:off x="274320" y="477520"/>
            <a:ext cx="11399520" cy="769441"/>
          </a:xfrm>
          <a:prstGeom prst="rect">
            <a:avLst/>
          </a:prstGeom>
          <a:noFill/>
        </p:spPr>
        <p:txBody>
          <a:bodyPr wrap="square" rtlCol="0">
            <a:spAutoFit/>
          </a:bodyPr>
          <a:lstStyle/>
          <a:p>
            <a:r>
              <a:rPr lang="en-IN" sz="4400" dirty="0"/>
              <a:t>ANALYSIS OF THE DATASET</a:t>
            </a:r>
          </a:p>
        </p:txBody>
      </p:sp>
      <p:sp>
        <p:nvSpPr>
          <p:cNvPr id="4" name="TextBox 3">
            <a:extLst>
              <a:ext uri="{FF2B5EF4-FFF2-40B4-BE49-F238E27FC236}">
                <a16:creationId xmlns:a16="http://schemas.microsoft.com/office/drawing/2014/main" id="{24757D49-2A0E-0618-87E2-FF985365706E}"/>
              </a:ext>
            </a:extLst>
          </p:cNvPr>
          <p:cNvSpPr txBox="1"/>
          <p:nvPr/>
        </p:nvSpPr>
        <p:spPr>
          <a:xfrm>
            <a:off x="193040" y="1246961"/>
            <a:ext cx="11562080" cy="5035353"/>
          </a:xfrm>
          <a:prstGeom prst="rect">
            <a:avLst/>
          </a:prstGeom>
          <a:noFill/>
        </p:spPr>
        <p:txBody>
          <a:bodyPr wrap="square" rtlCol="0">
            <a:spAutoFit/>
          </a:bodyPr>
          <a:lstStyle/>
          <a:p>
            <a:pPr>
              <a:lnSpc>
                <a:spcPct val="150000"/>
              </a:lnSpc>
            </a:pPr>
            <a:r>
              <a:rPr lang="en-US" sz="1850" b="1" dirty="0"/>
              <a:t>2. Dataset Structure &amp; Quality</a:t>
            </a:r>
          </a:p>
          <a:p>
            <a:pPr marL="285750" indent="-285750">
              <a:lnSpc>
                <a:spcPct val="150000"/>
              </a:lnSpc>
              <a:buFont typeface="Arial" panose="020B0604020202020204" pitchFamily="34" charset="0"/>
              <a:buChar char="•"/>
            </a:pPr>
            <a:r>
              <a:rPr lang="en-US" dirty="0"/>
              <a:t>The dataset contains 1,470 rows and 35 columns</a:t>
            </a:r>
          </a:p>
          <a:p>
            <a:pPr marL="285750" indent="-285750">
              <a:lnSpc>
                <a:spcPct val="150000"/>
              </a:lnSpc>
              <a:buFont typeface="Arial" panose="020B0604020202020204" pitchFamily="34" charset="0"/>
              <a:buChar char="•"/>
            </a:pPr>
            <a:r>
              <a:rPr lang="en-US" dirty="0"/>
              <a:t>Each employee is uniquely identified by the </a:t>
            </a:r>
            <a:r>
              <a:rPr lang="en-US" dirty="0" err="1"/>
              <a:t>EmployeeNumber</a:t>
            </a:r>
            <a:r>
              <a:rPr lang="en-US" dirty="0"/>
              <a:t> attribute.</a:t>
            </a:r>
          </a:p>
          <a:p>
            <a:pPr marL="285750" indent="-285750">
              <a:lnSpc>
                <a:spcPct val="150000"/>
              </a:lnSpc>
              <a:buFont typeface="Arial" panose="020B0604020202020204" pitchFamily="34" charset="0"/>
              <a:buChar char="•"/>
            </a:pPr>
            <a:r>
              <a:rPr lang="en-US" dirty="0"/>
              <a:t>Data types are well-defined — numerical, categorical, no missing/ null and well structured.</a:t>
            </a:r>
          </a:p>
          <a:p>
            <a:pPr marL="285750" indent="-285750">
              <a:lnSpc>
                <a:spcPct val="150000"/>
              </a:lnSpc>
              <a:buFont typeface="Arial" panose="020B0604020202020204" pitchFamily="34" charset="0"/>
              <a:buChar char="•"/>
            </a:pPr>
            <a:r>
              <a:rPr lang="en-US" dirty="0"/>
              <a:t>Well-suited for statistical analysis, visualization, and predictive modeling.</a:t>
            </a:r>
          </a:p>
          <a:p>
            <a:pPr>
              <a:lnSpc>
                <a:spcPct val="150000"/>
              </a:lnSpc>
            </a:pPr>
            <a:endParaRPr lang="en-US" b="1" dirty="0"/>
          </a:p>
          <a:p>
            <a:pPr>
              <a:lnSpc>
                <a:spcPct val="150000"/>
              </a:lnSpc>
            </a:pPr>
            <a:r>
              <a:rPr lang="en-US" sz="1850" b="1" dirty="0"/>
              <a:t>3. Key Attribute Categories:</a:t>
            </a:r>
            <a:endParaRPr lang="en-US" sz="1850" dirty="0"/>
          </a:p>
          <a:p>
            <a:pPr marL="285750" indent="-285750">
              <a:lnSpc>
                <a:spcPct val="150000"/>
              </a:lnSpc>
              <a:buFont typeface="Arial" panose="020B0604020202020204" pitchFamily="34" charset="0"/>
              <a:buChar char="•"/>
            </a:pPr>
            <a:r>
              <a:rPr lang="en-US" dirty="0"/>
              <a:t>Demographic: Age, Gender, </a:t>
            </a:r>
            <a:r>
              <a:rPr lang="en-US" dirty="0" err="1"/>
              <a:t>MaritalStatus</a:t>
            </a:r>
            <a:r>
              <a:rPr lang="en-US" dirty="0"/>
              <a:t>, Education</a:t>
            </a:r>
          </a:p>
          <a:p>
            <a:pPr marL="285750" indent="-285750">
              <a:lnSpc>
                <a:spcPct val="150000"/>
              </a:lnSpc>
              <a:buFont typeface="Arial" panose="020B0604020202020204" pitchFamily="34" charset="0"/>
              <a:buChar char="•"/>
            </a:pPr>
            <a:r>
              <a:rPr lang="en-US" dirty="0"/>
              <a:t>Work-Related: Department, </a:t>
            </a:r>
            <a:r>
              <a:rPr lang="en-US" dirty="0" err="1"/>
              <a:t>JobRole</a:t>
            </a:r>
            <a:r>
              <a:rPr lang="en-US" dirty="0"/>
              <a:t>, </a:t>
            </a:r>
            <a:r>
              <a:rPr lang="en-US" dirty="0" err="1"/>
              <a:t>JobLevel</a:t>
            </a:r>
            <a:r>
              <a:rPr lang="en-US" dirty="0"/>
              <a:t>, </a:t>
            </a:r>
            <a:r>
              <a:rPr lang="en-US" dirty="0" err="1"/>
              <a:t>YearsAtCompany</a:t>
            </a:r>
            <a:endParaRPr lang="en-US" dirty="0"/>
          </a:p>
          <a:p>
            <a:pPr marL="285750" indent="-285750">
              <a:lnSpc>
                <a:spcPct val="150000"/>
              </a:lnSpc>
              <a:buFont typeface="Arial" panose="020B0604020202020204" pitchFamily="34" charset="0"/>
              <a:buChar char="•"/>
            </a:pPr>
            <a:r>
              <a:rPr lang="en-US" dirty="0"/>
              <a:t>Compensation: </a:t>
            </a:r>
            <a:r>
              <a:rPr lang="en-US" dirty="0" err="1"/>
              <a:t>MonthlyIncome</a:t>
            </a:r>
            <a:r>
              <a:rPr lang="en-US" dirty="0"/>
              <a:t>, </a:t>
            </a:r>
            <a:r>
              <a:rPr lang="en-US" dirty="0" err="1"/>
              <a:t>PercentSalaryHike</a:t>
            </a:r>
            <a:r>
              <a:rPr lang="en-US" dirty="0"/>
              <a:t>, </a:t>
            </a:r>
            <a:r>
              <a:rPr lang="en-US" dirty="0" err="1"/>
              <a:t>StockOptionLevel</a:t>
            </a:r>
            <a:endParaRPr lang="en-US" dirty="0"/>
          </a:p>
          <a:p>
            <a:pPr marL="285750" indent="-285750">
              <a:lnSpc>
                <a:spcPct val="150000"/>
              </a:lnSpc>
              <a:buFont typeface="Arial" panose="020B0604020202020204" pitchFamily="34" charset="0"/>
              <a:buChar char="•"/>
            </a:pPr>
            <a:r>
              <a:rPr lang="en-US" dirty="0"/>
              <a:t>Satisfaction &amp; Engagement: </a:t>
            </a:r>
            <a:r>
              <a:rPr lang="en-US" dirty="0" err="1"/>
              <a:t>JobSatisfaction</a:t>
            </a:r>
            <a:r>
              <a:rPr lang="en-US" dirty="0"/>
              <a:t>, </a:t>
            </a:r>
            <a:r>
              <a:rPr lang="en-US" dirty="0" err="1"/>
              <a:t>WorkLifeBalance</a:t>
            </a:r>
            <a:r>
              <a:rPr lang="en-US" dirty="0"/>
              <a:t>, </a:t>
            </a:r>
            <a:r>
              <a:rPr lang="en-US" dirty="0" err="1"/>
              <a:t>EnvironmentSatisfaction</a:t>
            </a:r>
            <a:endParaRPr lang="en-US" dirty="0"/>
          </a:p>
          <a:p>
            <a:pPr marL="285750" indent="-285750">
              <a:lnSpc>
                <a:spcPct val="150000"/>
              </a:lnSpc>
              <a:buFont typeface="Arial" panose="020B0604020202020204" pitchFamily="34" charset="0"/>
              <a:buChar char="•"/>
            </a:pPr>
            <a:r>
              <a:rPr lang="en-US" dirty="0"/>
              <a:t>Performance Indicators: </a:t>
            </a:r>
            <a:r>
              <a:rPr lang="en-US" dirty="0" err="1"/>
              <a:t>OverTime</a:t>
            </a:r>
            <a:r>
              <a:rPr lang="en-US" dirty="0"/>
              <a:t>, </a:t>
            </a:r>
            <a:r>
              <a:rPr lang="en-US" dirty="0" err="1"/>
              <a:t>YearsSinceLastPromotion</a:t>
            </a:r>
            <a:r>
              <a:rPr lang="en-US" dirty="0"/>
              <a:t>, </a:t>
            </a:r>
            <a:r>
              <a:rPr lang="en-US" dirty="0" err="1"/>
              <a:t>TrainingTimesLastYear</a:t>
            </a:r>
            <a:endParaRPr lang="en-US" dirty="0"/>
          </a:p>
        </p:txBody>
      </p:sp>
      <p:sp>
        <p:nvSpPr>
          <p:cNvPr id="5" name="TextBox 4">
            <a:extLst>
              <a:ext uri="{FF2B5EF4-FFF2-40B4-BE49-F238E27FC236}">
                <a16:creationId xmlns:a16="http://schemas.microsoft.com/office/drawing/2014/main" id="{1FDAB751-DD07-5249-80ED-C1F2F23D8D01}"/>
              </a:ext>
            </a:extLst>
          </p:cNvPr>
          <p:cNvSpPr txBox="1"/>
          <p:nvPr/>
        </p:nvSpPr>
        <p:spPr>
          <a:xfrm>
            <a:off x="10647025" y="6468970"/>
            <a:ext cx="1789470" cy="307777"/>
          </a:xfrm>
          <a:prstGeom prst="rect">
            <a:avLst/>
          </a:prstGeom>
          <a:noFill/>
        </p:spPr>
        <p:txBody>
          <a:bodyPr wrap="square" rtlCol="0">
            <a:spAutoFit/>
          </a:bodyPr>
          <a:lstStyle/>
          <a:p>
            <a:r>
              <a:rPr lang="en-US" sz="1400" dirty="0"/>
              <a:t>GAMYA BEHARA</a:t>
            </a:r>
            <a:endParaRPr lang="en-IN" sz="1400" dirty="0"/>
          </a:p>
        </p:txBody>
      </p:sp>
    </p:spTree>
    <p:extLst>
      <p:ext uri="{BB962C8B-B14F-4D97-AF65-F5344CB8AC3E}">
        <p14:creationId xmlns:p14="http://schemas.microsoft.com/office/powerpoint/2010/main" val="2807228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E9C15-260B-039D-4BD3-86AA649F68E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8FECB3C-A220-2B21-FD8C-1F25BFA95FBD}"/>
              </a:ext>
            </a:extLst>
          </p:cNvPr>
          <p:cNvSpPr txBox="1"/>
          <p:nvPr/>
        </p:nvSpPr>
        <p:spPr>
          <a:xfrm>
            <a:off x="274320" y="477520"/>
            <a:ext cx="11399520" cy="769441"/>
          </a:xfrm>
          <a:prstGeom prst="rect">
            <a:avLst/>
          </a:prstGeom>
          <a:noFill/>
        </p:spPr>
        <p:txBody>
          <a:bodyPr wrap="square" rtlCol="0">
            <a:spAutoFit/>
          </a:bodyPr>
          <a:lstStyle/>
          <a:p>
            <a:r>
              <a:rPr lang="en-IN" sz="4400" dirty="0"/>
              <a:t>ANALYSIS OF THE DATASET</a:t>
            </a:r>
          </a:p>
        </p:txBody>
      </p:sp>
      <p:sp>
        <p:nvSpPr>
          <p:cNvPr id="4" name="TextBox 3">
            <a:extLst>
              <a:ext uri="{FF2B5EF4-FFF2-40B4-BE49-F238E27FC236}">
                <a16:creationId xmlns:a16="http://schemas.microsoft.com/office/drawing/2014/main" id="{79218AA1-55F9-F0DE-7E20-E3C7B4B5D96E}"/>
              </a:ext>
            </a:extLst>
          </p:cNvPr>
          <p:cNvSpPr txBox="1"/>
          <p:nvPr/>
        </p:nvSpPr>
        <p:spPr>
          <a:xfrm>
            <a:off x="193040" y="1246961"/>
            <a:ext cx="11562080" cy="5035353"/>
          </a:xfrm>
          <a:prstGeom prst="rect">
            <a:avLst/>
          </a:prstGeom>
          <a:noFill/>
        </p:spPr>
        <p:txBody>
          <a:bodyPr wrap="square" rtlCol="0">
            <a:spAutoFit/>
          </a:bodyPr>
          <a:lstStyle/>
          <a:p>
            <a:pPr>
              <a:lnSpc>
                <a:spcPct val="150000"/>
              </a:lnSpc>
            </a:pPr>
            <a:r>
              <a:rPr lang="en-US" sz="1850" b="1" dirty="0"/>
              <a:t>4. Descriptive Insights:</a:t>
            </a:r>
            <a:endParaRPr lang="en-US" sz="1850" dirty="0"/>
          </a:p>
          <a:p>
            <a:pPr marL="285750" indent="-285750">
              <a:lnSpc>
                <a:spcPct val="150000"/>
              </a:lnSpc>
              <a:buFont typeface="Arial" panose="020B0604020202020204" pitchFamily="34" charset="0"/>
              <a:buChar char="•"/>
            </a:pPr>
            <a:r>
              <a:rPr lang="en-US" dirty="0"/>
              <a:t>Age Range: 18 to 60 years, with the majority of employees in the 30–39 age group.</a:t>
            </a:r>
          </a:p>
          <a:p>
            <a:pPr marL="285750" indent="-285750">
              <a:lnSpc>
                <a:spcPct val="150000"/>
              </a:lnSpc>
              <a:buFont typeface="Arial" panose="020B0604020202020204" pitchFamily="34" charset="0"/>
              <a:buChar char="•"/>
            </a:pPr>
            <a:r>
              <a:rPr lang="en-US" dirty="0"/>
              <a:t>Departments: Three main departments — Sales, Research &amp; Development, and Human Resources.</a:t>
            </a:r>
          </a:p>
          <a:p>
            <a:pPr marL="285750" indent="-285750">
              <a:lnSpc>
                <a:spcPct val="150000"/>
              </a:lnSpc>
              <a:buFont typeface="Arial" panose="020B0604020202020204" pitchFamily="34" charset="0"/>
              <a:buChar char="•"/>
            </a:pPr>
            <a:r>
              <a:rPr lang="en-US" dirty="0"/>
              <a:t>Attrition Rate: Approximately 16% of employees have left the company.</a:t>
            </a:r>
          </a:p>
          <a:p>
            <a:pPr marL="285750" indent="-285750">
              <a:lnSpc>
                <a:spcPct val="150000"/>
              </a:lnSpc>
              <a:buFont typeface="Arial" panose="020B0604020202020204" pitchFamily="34" charset="0"/>
              <a:buChar char="•"/>
            </a:pPr>
            <a:r>
              <a:rPr lang="en-US" dirty="0" err="1"/>
              <a:t>OverTime</a:t>
            </a:r>
            <a:r>
              <a:rPr lang="en-US" dirty="0"/>
              <a:t>: Nearly 30% of employees work overtime; higher attrition observed among them.</a:t>
            </a:r>
          </a:p>
          <a:p>
            <a:pPr>
              <a:lnSpc>
                <a:spcPct val="150000"/>
              </a:lnSpc>
            </a:pPr>
            <a:endParaRPr lang="en-US" b="1" dirty="0"/>
          </a:p>
          <a:p>
            <a:pPr>
              <a:lnSpc>
                <a:spcPct val="150000"/>
              </a:lnSpc>
            </a:pPr>
            <a:r>
              <a:rPr lang="en-US" sz="1850" b="1" dirty="0"/>
              <a:t>5. Analysis Conducted:</a:t>
            </a:r>
            <a:endParaRPr lang="en-US" sz="1850" dirty="0"/>
          </a:p>
          <a:p>
            <a:pPr marL="285750" indent="-285750">
              <a:lnSpc>
                <a:spcPct val="150000"/>
              </a:lnSpc>
              <a:buFont typeface="Arial" panose="020B0604020202020204" pitchFamily="34" charset="0"/>
              <a:buChar char="•"/>
            </a:pPr>
            <a:r>
              <a:rPr lang="en-US" dirty="0"/>
              <a:t>Calculated average attrition rate by Department and visualized with bar plots.</a:t>
            </a:r>
          </a:p>
          <a:p>
            <a:pPr marL="285750" indent="-285750">
              <a:lnSpc>
                <a:spcPct val="150000"/>
              </a:lnSpc>
              <a:buFont typeface="Arial" panose="020B0604020202020204" pitchFamily="34" charset="0"/>
              <a:buChar char="•"/>
            </a:pPr>
            <a:r>
              <a:rPr lang="en-US" dirty="0"/>
              <a:t>Compared Gender-based attrition using pie charts.</a:t>
            </a:r>
          </a:p>
          <a:p>
            <a:pPr marL="285750" indent="-285750">
              <a:lnSpc>
                <a:spcPct val="150000"/>
              </a:lnSpc>
              <a:buFont typeface="Arial" panose="020B0604020202020204" pitchFamily="34" charset="0"/>
              <a:buChar char="•"/>
            </a:pPr>
            <a:r>
              <a:rPr lang="en-US" dirty="0"/>
              <a:t>Analyzed the impact of </a:t>
            </a:r>
            <a:r>
              <a:rPr lang="en-US" dirty="0" err="1"/>
              <a:t>OverTime</a:t>
            </a:r>
            <a:r>
              <a:rPr lang="en-US" dirty="0"/>
              <a:t> on attrition with bar charts.</a:t>
            </a:r>
          </a:p>
          <a:p>
            <a:pPr marL="285750" indent="-285750">
              <a:lnSpc>
                <a:spcPct val="150000"/>
              </a:lnSpc>
              <a:buFont typeface="Arial" panose="020B0604020202020204" pitchFamily="34" charset="0"/>
              <a:buChar char="•"/>
            </a:pPr>
            <a:r>
              <a:rPr lang="en-US" dirty="0"/>
              <a:t>Examined attrition trends by </a:t>
            </a:r>
            <a:r>
              <a:rPr lang="en-US" dirty="0" err="1"/>
              <a:t>IncomeBand</a:t>
            </a:r>
            <a:r>
              <a:rPr lang="en-US" dirty="0"/>
              <a:t> using bar plots.</a:t>
            </a:r>
          </a:p>
          <a:p>
            <a:pPr marL="285750" indent="-285750">
              <a:lnSpc>
                <a:spcPct val="150000"/>
              </a:lnSpc>
              <a:buFont typeface="Arial" panose="020B0604020202020204" pitchFamily="34" charset="0"/>
              <a:buChar char="•"/>
            </a:pPr>
            <a:r>
              <a:rPr lang="en-US" dirty="0"/>
              <a:t>Assessed the influence of </a:t>
            </a:r>
            <a:r>
              <a:rPr lang="en-US" dirty="0" err="1"/>
              <a:t>JobSatisfaction</a:t>
            </a:r>
            <a:r>
              <a:rPr lang="en-US" dirty="0"/>
              <a:t> levels on attrition using bar charts.</a:t>
            </a:r>
          </a:p>
        </p:txBody>
      </p:sp>
      <p:sp>
        <p:nvSpPr>
          <p:cNvPr id="3" name="TextBox 2">
            <a:extLst>
              <a:ext uri="{FF2B5EF4-FFF2-40B4-BE49-F238E27FC236}">
                <a16:creationId xmlns:a16="http://schemas.microsoft.com/office/drawing/2014/main" id="{BF8500C6-7AB0-5AF7-72ED-14570AE78821}"/>
              </a:ext>
            </a:extLst>
          </p:cNvPr>
          <p:cNvSpPr txBox="1"/>
          <p:nvPr/>
        </p:nvSpPr>
        <p:spPr>
          <a:xfrm>
            <a:off x="10647025" y="6468970"/>
            <a:ext cx="1789470" cy="307777"/>
          </a:xfrm>
          <a:prstGeom prst="rect">
            <a:avLst/>
          </a:prstGeom>
          <a:noFill/>
        </p:spPr>
        <p:txBody>
          <a:bodyPr wrap="square" rtlCol="0">
            <a:spAutoFit/>
          </a:bodyPr>
          <a:lstStyle/>
          <a:p>
            <a:r>
              <a:rPr lang="en-US" sz="1400" dirty="0"/>
              <a:t>GAMYA BEHARA</a:t>
            </a:r>
            <a:endParaRPr lang="en-IN" sz="1400" dirty="0"/>
          </a:p>
        </p:txBody>
      </p:sp>
    </p:spTree>
    <p:extLst>
      <p:ext uri="{BB962C8B-B14F-4D97-AF65-F5344CB8AC3E}">
        <p14:creationId xmlns:p14="http://schemas.microsoft.com/office/powerpoint/2010/main" val="3008305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E4468-20EE-8341-F833-4841FACE95B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C6BB97E-46FC-E42D-F310-B19A49477736}"/>
              </a:ext>
            </a:extLst>
          </p:cNvPr>
          <p:cNvSpPr txBox="1"/>
          <p:nvPr/>
        </p:nvSpPr>
        <p:spPr>
          <a:xfrm>
            <a:off x="274320" y="477520"/>
            <a:ext cx="11399520" cy="769441"/>
          </a:xfrm>
          <a:prstGeom prst="rect">
            <a:avLst/>
          </a:prstGeom>
          <a:noFill/>
        </p:spPr>
        <p:txBody>
          <a:bodyPr wrap="square" rtlCol="0">
            <a:spAutoFit/>
          </a:bodyPr>
          <a:lstStyle/>
          <a:p>
            <a:r>
              <a:rPr lang="en-IN" sz="4400" dirty="0"/>
              <a:t>ANALYSIS OF THE DATASET</a:t>
            </a:r>
          </a:p>
        </p:txBody>
      </p:sp>
      <p:sp>
        <p:nvSpPr>
          <p:cNvPr id="4" name="TextBox 3">
            <a:extLst>
              <a:ext uri="{FF2B5EF4-FFF2-40B4-BE49-F238E27FC236}">
                <a16:creationId xmlns:a16="http://schemas.microsoft.com/office/drawing/2014/main" id="{FA758E18-6E26-2DB6-62E8-580ECEEE2E61}"/>
              </a:ext>
            </a:extLst>
          </p:cNvPr>
          <p:cNvSpPr txBox="1"/>
          <p:nvPr/>
        </p:nvSpPr>
        <p:spPr>
          <a:xfrm>
            <a:off x="193040" y="1246961"/>
            <a:ext cx="11562080" cy="5450851"/>
          </a:xfrm>
          <a:prstGeom prst="rect">
            <a:avLst/>
          </a:prstGeom>
          <a:noFill/>
        </p:spPr>
        <p:txBody>
          <a:bodyPr wrap="square" rtlCol="0">
            <a:spAutoFit/>
          </a:bodyPr>
          <a:lstStyle/>
          <a:p>
            <a:pPr>
              <a:lnSpc>
                <a:spcPct val="150000"/>
              </a:lnSpc>
            </a:pPr>
            <a:r>
              <a:rPr lang="en-IN" sz="1850" b="1" dirty="0"/>
              <a:t>6. Relationships analysis</a:t>
            </a:r>
          </a:p>
          <a:p>
            <a:pPr marL="285750" indent="-285750">
              <a:lnSpc>
                <a:spcPct val="150000"/>
              </a:lnSpc>
              <a:buFont typeface="Arial" panose="020B0604020202020204" pitchFamily="34" charset="0"/>
              <a:buChar char="•"/>
            </a:pPr>
            <a:r>
              <a:rPr lang="en-US" dirty="0"/>
              <a:t>Department vs. Attrition – Identified departments with the highest attrition percentages</a:t>
            </a:r>
          </a:p>
          <a:p>
            <a:pPr marL="285750" indent="-285750">
              <a:lnSpc>
                <a:spcPct val="150000"/>
              </a:lnSpc>
              <a:buFont typeface="Arial" panose="020B0604020202020204" pitchFamily="34" charset="0"/>
              <a:buChar char="•"/>
            </a:pPr>
            <a:r>
              <a:rPr lang="en-US" dirty="0"/>
              <a:t>Gender × Attrition – Compared attrition trends across male and female employees</a:t>
            </a:r>
          </a:p>
          <a:p>
            <a:pPr marL="285750" indent="-285750">
              <a:lnSpc>
                <a:spcPct val="150000"/>
              </a:lnSpc>
              <a:buFont typeface="Arial" panose="020B0604020202020204" pitchFamily="34" charset="0"/>
              <a:buChar char="•"/>
            </a:pPr>
            <a:r>
              <a:rPr lang="en-US" dirty="0" err="1"/>
              <a:t>OverTime</a:t>
            </a:r>
            <a:r>
              <a:rPr lang="en-US" dirty="0"/>
              <a:t> × Attrition – Assessed the impact of extra working hours on employee turnover</a:t>
            </a:r>
          </a:p>
          <a:p>
            <a:pPr marL="285750" indent="-285750">
              <a:lnSpc>
                <a:spcPct val="150000"/>
              </a:lnSpc>
              <a:buFont typeface="Arial" panose="020B0604020202020204" pitchFamily="34" charset="0"/>
              <a:buChar char="•"/>
            </a:pPr>
            <a:r>
              <a:rPr lang="en-US" dirty="0" err="1"/>
              <a:t>IncomeBand</a:t>
            </a:r>
            <a:r>
              <a:rPr lang="en-US" dirty="0"/>
              <a:t> × Attrition – Studied how salary levels relate to attrition rates</a:t>
            </a:r>
          </a:p>
          <a:p>
            <a:pPr marL="285750" indent="-285750">
              <a:lnSpc>
                <a:spcPct val="150000"/>
              </a:lnSpc>
              <a:buFont typeface="Arial" panose="020B0604020202020204" pitchFamily="34" charset="0"/>
              <a:buChar char="•"/>
            </a:pPr>
            <a:r>
              <a:rPr lang="en-US" dirty="0"/>
              <a:t>Promotion × Attrition – Explored the relationship between promotion gaps and attrition</a:t>
            </a:r>
          </a:p>
          <a:p>
            <a:pPr marL="285750" indent="-285750">
              <a:lnSpc>
                <a:spcPct val="150000"/>
              </a:lnSpc>
              <a:buFont typeface="Arial" panose="020B0604020202020204" pitchFamily="34" charset="0"/>
              <a:buChar char="•"/>
            </a:pPr>
            <a:r>
              <a:rPr lang="en-US" dirty="0" err="1"/>
              <a:t>AgeGroup</a:t>
            </a:r>
            <a:r>
              <a:rPr lang="en-US" dirty="0"/>
              <a:t> × Attrition – Analyzed how age affects likelihood of leaving</a:t>
            </a:r>
          </a:p>
          <a:p>
            <a:pPr marL="285750" indent="-285750">
              <a:lnSpc>
                <a:spcPct val="150000"/>
              </a:lnSpc>
              <a:buFont typeface="Arial" panose="020B0604020202020204" pitchFamily="34" charset="0"/>
              <a:buChar char="•"/>
            </a:pPr>
            <a:r>
              <a:rPr lang="en-US" dirty="0" err="1"/>
              <a:t>JobSatisfaction</a:t>
            </a:r>
            <a:r>
              <a:rPr lang="en-US" dirty="0"/>
              <a:t> × Attrition – Examined how satisfaction levels relate to attrition</a:t>
            </a:r>
          </a:p>
          <a:p>
            <a:pPr marL="285750" indent="-285750">
              <a:lnSpc>
                <a:spcPct val="150000"/>
              </a:lnSpc>
              <a:buFont typeface="Arial" panose="020B0604020202020204" pitchFamily="34" charset="0"/>
              <a:buChar char="•"/>
            </a:pPr>
            <a:r>
              <a:rPr lang="en-US" dirty="0" err="1"/>
              <a:t>JobRole</a:t>
            </a:r>
            <a:r>
              <a:rPr lang="en-US" dirty="0"/>
              <a:t> × </a:t>
            </a:r>
            <a:r>
              <a:rPr lang="en-US" dirty="0" err="1"/>
              <a:t>OverTime</a:t>
            </a:r>
            <a:r>
              <a:rPr lang="en-US" dirty="0"/>
              <a:t> × Attrition – Combined role and overtime to identify which job roles, when coupled with overtime, have higher attrition</a:t>
            </a:r>
          </a:p>
          <a:p>
            <a:pPr marL="285750" indent="-285750">
              <a:lnSpc>
                <a:spcPct val="150000"/>
              </a:lnSpc>
              <a:buFont typeface="Arial" panose="020B0604020202020204" pitchFamily="34" charset="0"/>
              <a:buChar char="•"/>
            </a:pPr>
            <a:r>
              <a:rPr lang="en-US" dirty="0"/>
              <a:t>Multiple Factors × Attrition – Combined key attributes (Department, </a:t>
            </a:r>
            <a:r>
              <a:rPr lang="en-US" dirty="0" err="1"/>
              <a:t>OverTime</a:t>
            </a:r>
            <a:r>
              <a:rPr lang="en-US" dirty="0"/>
              <a:t>, Income, Promotion Gap, Age, </a:t>
            </a:r>
            <a:r>
              <a:rPr lang="en-US" dirty="0" err="1"/>
              <a:t>JobSatisfaction</a:t>
            </a:r>
            <a:r>
              <a:rPr lang="en-US" dirty="0"/>
              <a:t>) to analyze their collective impact on attrition</a:t>
            </a:r>
          </a:p>
          <a:p>
            <a:pPr>
              <a:lnSpc>
                <a:spcPct val="150000"/>
              </a:lnSpc>
            </a:pPr>
            <a:endParaRPr lang="en-US" dirty="0"/>
          </a:p>
        </p:txBody>
      </p:sp>
      <p:sp>
        <p:nvSpPr>
          <p:cNvPr id="3" name="TextBox 2">
            <a:extLst>
              <a:ext uri="{FF2B5EF4-FFF2-40B4-BE49-F238E27FC236}">
                <a16:creationId xmlns:a16="http://schemas.microsoft.com/office/drawing/2014/main" id="{61AF188A-D8FC-5DB4-C3F1-D7D758DD3446}"/>
              </a:ext>
            </a:extLst>
          </p:cNvPr>
          <p:cNvSpPr txBox="1"/>
          <p:nvPr/>
        </p:nvSpPr>
        <p:spPr>
          <a:xfrm>
            <a:off x="10647025" y="6468970"/>
            <a:ext cx="1789470" cy="307777"/>
          </a:xfrm>
          <a:prstGeom prst="rect">
            <a:avLst/>
          </a:prstGeom>
          <a:noFill/>
        </p:spPr>
        <p:txBody>
          <a:bodyPr wrap="square" rtlCol="0">
            <a:spAutoFit/>
          </a:bodyPr>
          <a:lstStyle/>
          <a:p>
            <a:r>
              <a:rPr lang="en-US" sz="1400" dirty="0"/>
              <a:t>GAMYA BEHARA</a:t>
            </a:r>
            <a:endParaRPr lang="en-IN" sz="1400" dirty="0"/>
          </a:p>
        </p:txBody>
      </p:sp>
    </p:spTree>
    <p:extLst>
      <p:ext uri="{BB962C8B-B14F-4D97-AF65-F5344CB8AC3E}">
        <p14:creationId xmlns:p14="http://schemas.microsoft.com/office/powerpoint/2010/main" val="2423900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6F600-833D-846F-6D07-3C1BF9B765D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BEEBA64-830E-ADB9-A4C9-ED4DA51EFF88}"/>
              </a:ext>
            </a:extLst>
          </p:cNvPr>
          <p:cNvSpPr txBox="1"/>
          <p:nvPr/>
        </p:nvSpPr>
        <p:spPr>
          <a:xfrm>
            <a:off x="274320" y="477520"/>
            <a:ext cx="11399520" cy="769441"/>
          </a:xfrm>
          <a:prstGeom prst="rect">
            <a:avLst/>
          </a:prstGeom>
          <a:noFill/>
        </p:spPr>
        <p:txBody>
          <a:bodyPr wrap="square" rtlCol="0">
            <a:spAutoFit/>
          </a:bodyPr>
          <a:lstStyle/>
          <a:p>
            <a:r>
              <a:rPr lang="en-IN" sz="4400" dirty="0"/>
              <a:t>ANALYSIS OF THE DATASET</a:t>
            </a:r>
          </a:p>
        </p:txBody>
      </p:sp>
      <p:sp>
        <p:nvSpPr>
          <p:cNvPr id="4" name="TextBox 3">
            <a:extLst>
              <a:ext uri="{FF2B5EF4-FFF2-40B4-BE49-F238E27FC236}">
                <a16:creationId xmlns:a16="http://schemas.microsoft.com/office/drawing/2014/main" id="{4D8B3CB9-2EBD-3E73-2EF7-BFCAC2A068BF}"/>
              </a:ext>
            </a:extLst>
          </p:cNvPr>
          <p:cNvSpPr txBox="1"/>
          <p:nvPr/>
        </p:nvSpPr>
        <p:spPr>
          <a:xfrm>
            <a:off x="274320" y="1465321"/>
            <a:ext cx="11562080" cy="3658053"/>
          </a:xfrm>
          <a:prstGeom prst="rect">
            <a:avLst/>
          </a:prstGeom>
          <a:noFill/>
        </p:spPr>
        <p:txBody>
          <a:bodyPr wrap="square" rtlCol="0">
            <a:spAutoFit/>
          </a:bodyPr>
          <a:lstStyle/>
          <a:p>
            <a:r>
              <a:rPr lang="en-IN" sz="1850" b="1" dirty="0"/>
              <a:t>7. Final demographics</a:t>
            </a:r>
            <a:endParaRPr lang="en-IN" b="1" dirty="0">
              <a:effectLst/>
            </a:endParaRPr>
          </a:p>
          <a:p>
            <a:pPr marL="285750" indent="-285750">
              <a:lnSpc>
                <a:spcPct val="150000"/>
              </a:lnSpc>
              <a:buFont typeface="Arial" panose="020B0604020202020204" pitchFamily="34" charset="0"/>
              <a:buChar char="•"/>
            </a:pPr>
            <a:r>
              <a:rPr lang="en-US" dirty="0"/>
              <a:t>Younger employees (&lt;30 years) show higher attrition</a:t>
            </a:r>
          </a:p>
          <a:p>
            <a:pPr marL="285750" indent="-285750">
              <a:lnSpc>
                <a:spcPct val="150000"/>
              </a:lnSpc>
              <a:buFont typeface="Arial" panose="020B0604020202020204" pitchFamily="34" charset="0"/>
              <a:buChar char="•"/>
            </a:pPr>
            <a:r>
              <a:rPr lang="en-US" dirty="0"/>
              <a:t>Mid-career employees (30–39 years) have moderate attrition</a:t>
            </a:r>
          </a:p>
          <a:p>
            <a:pPr marL="285750" indent="-285750">
              <a:lnSpc>
                <a:spcPct val="150000"/>
              </a:lnSpc>
              <a:buFont typeface="Arial" panose="020B0604020202020204" pitchFamily="34" charset="0"/>
              <a:buChar char="•"/>
            </a:pPr>
            <a:r>
              <a:rPr lang="en-US" dirty="0"/>
              <a:t>Employees above 40 show lower attrition</a:t>
            </a:r>
          </a:p>
          <a:p>
            <a:pPr marL="285750" indent="-285750">
              <a:lnSpc>
                <a:spcPct val="150000"/>
              </a:lnSpc>
              <a:buFont typeface="Arial" panose="020B0604020202020204" pitchFamily="34" charset="0"/>
              <a:buChar char="•"/>
            </a:pPr>
            <a:r>
              <a:rPr lang="en-US" dirty="0"/>
              <a:t>Job satisfaction affects retention across all age groups</a:t>
            </a:r>
          </a:p>
          <a:p>
            <a:pPr marL="285750" indent="-285750">
              <a:lnSpc>
                <a:spcPct val="150000"/>
              </a:lnSpc>
              <a:buFont typeface="Arial" panose="020B0604020202020204" pitchFamily="34" charset="0"/>
              <a:buChar char="•"/>
            </a:pPr>
            <a:r>
              <a:rPr lang="en-US" dirty="0"/>
              <a:t>Sales department exhibits the highest attrition.</a:t>
            </a:r>
          </a:p>
          <a:p>
            <a:pPr marL="285750" indent="-285750">
              <a:lnSpc>
                <a:spcPct val="150000"/>
              </a:lnSpc>
              <a:buFont typeface="Arial" panose="020B0604020202020204" pitchFamily="34" charset="0"/>
              <a:buChar char="•"/>
            </a:pPr>
            <a:r>
              <a:rPr lang="en-US" dirty="0"/>
              <a:t>Employees working </a:t>
            </a:r>
            <a:r>
              <a:rPr lang="en-US" dirty="0" err="1"/>
              <a:t>OverTime</a:t>
            </a:r>
            <a:r>
              <a:rPr lang="en-US" dirty="0"/>
              <a:t> are more likely to leave.</a:t>
            </a:r>
          </a:p>
          <a:p>
            <a:pPr marL="285750" indent="-285750">
              <a:lnSpc>
                <a:spcPct val="150000"/>
              </a:lnSpc>
              <a:buFont typeface="Arial" panose="020B0604020202020204" pitchFamily="34" charset="0"/>
              <a:buChar char="•"/>
            </a:pPr>
            <a:r>
              <a:rPr lang="en-US" dirty="0"/>
              <a:t>Lower-paid employees have higher attrition.</a:t>
            </a:r>
          </a:p>
          <a:p>
            <a:pPr marL="285750" indent="-285750">
              <a:lnSpc>
                <a:spcPct val="150000"/>
              </a:lnSpc>
              <a:buFont typeface="Arial" panose="020B0604020202020204" pitchFamily="34" charset="0"/>
              <a:buChar char="•"/>
            </a:pPr>
            <a:r>
              <a:rPr lang="en-US" dirty="0"/>
              <a:t>Low job satisfaction strongly correlates with attrition. </a:t>
            </a:r>
            <a:endParaRPr lang="en-IN" dirty="0">
              <a:effectLst/>
            </a:endParaRPr>
          </a:p>
        </p:txBody>
      </p:sp>
      <p:sp>
        <p:nvSpPr>
          <p:cNvPr id="3" name="TextBox 2">
            <a:extLst>
              <a:ext uri="{FF2B5EF4-FFF2-40B4-BE49-F238E27FC236}">
                <a16:creationId xmlns:a16="http://schemas.microsoft.com/office/drawing/2014/main" id="{0F92EAF6-2D39-8EA8-FAD3-368CC9E699CA}"/>
              </a:ext>
            </a:extLst>
          </p:cNvPr>
          <p:cNvSpPr txBox="1"/>
          <p:nvPr/>
        </p:nvSpPr>
        <p:spPr>
          <a:xfrm>
            <a:off x="10647025" y="6468970"/>
            <a:ext cx="1789470" cy="307777"/>
          </a:xfrm>
          <a:prstGeom prst="rect">
            <a:avLst/>
          </a:prstGeom>
          <a:noFill/>
        </p:spPr>
        <p:txBody>
          <a:bodyPr wrap="square" rtlCol="0">
            <a:spAutoFit/>
          </a:bodyPr>
          <a:lstStyle/>
          <a:p>
            <a:r>
              <a:rPr lang="en-US" sz="1400" dirty="0"/>
              <a:t>GAMYA BEHARA</a:t>
            </a:r>
            <a:endParaRPr lang="en-IN" sz="1400" dirty="0"/>
          </a:p>
        </p:txBody>
      </p:sp>
    </p:spTree>
    <p:extLst>
      <p:ext uri="{BB962C8B-B14F-4D97-AF65-F5344CB8AC3E}">
        <p14:creationId xmlns:p14="http://schemas.microsoft.com/office/powerpoint/2010/main" val="2201317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D304C-10D4-D621-123F-628B7219AEA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AC9D749-F5E0-742B-10F1-B969E7CD7090}"/>
              </a:ext>
            </a:extLst>
          </p:cNvPr>
          <p:cNvSpPr txBox="1"/>
          <p:nvPr/>
        </p:nvSpPr>
        <p:spPr>
          <a:xfrm>
            <a:off x="274320" y="477520"/>
            <a:ext cx="11399520" cy="769441"/>
          </a:xfrm>
          <a:prstGeom prst="rect">
            <a:avLst/>
          </a:prstGeom>
          <a:noFill/>
        </p:spPr>
        <p:txBody>
          <a:bodyPr wrap="square" rtlCol="0">
            <a:spAutoFit/>
          </a:bodyPr>
          <a:lstStyle/>
          <a:p>
            <a:r>
              <a:rPr lang="en-US" sz="4400" dirty="0"/>
              <a:t>WORKFLOW OF THE PROJECT- STRUCTURE</a:t>
            </a:r>
            <a:endParaRPr lang="en-IN" sz="4400" dirty="0"/>
          </a:p>
        </p:txBody>
      </p:sp>
      <p:sp>
        <p:nvSpPr>
          <p:cNvPr id="4" name="TextBox 3">
            <a:extLst>
              <a:ext uri="{FF2B5EF4-FFF2-40B4-BE49-F238E27FC236}">
                <a16:creationId xmlns:a16="http://schemas.microsoft.com/office/drawing/2014/main" id="{C6194FBE-669D-89EB-1E59-F2AD49E42F29}"/>
              </a:ext>
            </a:extLst>
          </p:cNvPr>
          <p:cNvSpPr txBox="1"/>
          <p:nvPr/>
        </p:nvSpPr>
        <p:spPr>
          <a:xfrm>
            <a:off x="274320" y="1452880"/>
            <a:ext cx="11562080" cy="3788858"/>
          </a:xfrm>
          <a:prstGeom prst="rect">
            <a:avLst/>
          </a:prstGeom>
          <a:noFill/>
        </p:spPr>
        <p:txBody>
          <a:bodyPr wrap="square" rtlCol="0">
            <a:spAutoFit/>
          </a:bodyPr>
          <a:lstStyle/>
          <a:p>
            <a:pPr>
              <a:lnSpc>
                <a:spcPct val="150000"/>
              </a:lnSpc>
            </a:pPr>
            <a:r>
              <a:rPr lang="en-US" dirty="0"/>
              <a:t>Since this project is built using </a:t>
            </a:r>
            <a:r>
              <a:rPr lang="en-US" dirty="0" err="1"/>
              <a:t>PySpark</a:t>
            </a:r>
            <a:r>
              <a:rPr lang="en-US" dirty="0"/>
              <a:t>, the analysis workflow was structured as follows:</a:t>
            </a:r>
          </a:p>
          <a:p>
            <a:pPr marL="285750" indent="-285750">
              <a:lnSpc>
                <a:spcPct val="150000"/>
              </a:lnSpc>
              <a:buFont typeface="Arial" panose="020B0604020202020204" pitchFamily="34" charset="0"/>
              <a:buChar char="•"/>
            </a:pPr>
            <a:r>
              <a:rPr lang="en-US" b="1" dirty="0"/>
              <a:t>Data Loading:</a:t>
            </a:r>
            <a:r>
              <a:rPr lang="en-US" dirty="0"/>
              <a:t> Imported the dataset into </a:t>
            </a:r>
            <a:r>
              <a:rPr lang="en-US" dirty="0" err="1"/>
              <a:t>PySpark</a:t>
            </a:r>
            <a:r>
              <a:rPr lang="en-US" dirty="0"/>
              <a:t> and created a Spark </a:t>
            </a:r>
            <a:r>
              <a:rPr lang="en-US" dirty="0" err="1"/>
              <a:t>DataFrame</a:t>
            </a:r>
            <a:r>
              <a:rPr lang="en-US" dirty="0"/>
              <a:t>.</a:t>
            </a:r>
          </a:p>
          <a:p>
            <a:pPr marL="285750" indent="-285750">
              <a:lnSpc>
                <a:spcPct val="150000"/>
              </a:lnSpc>
              <a:buFont typeface="Arial" panose="020B0604020202020204" pitchFamily="34" charset="0"/>
              <a:buChar char="•"/>
            </a:pPr>
            <a:r>
              <a:rPr lang="en-US" b="1" dirty="0"/>
              <a:t>Preprocessing:</a:t>
            </a:r>
            <a:r>
              <a:rPr lang="en-US" dirty="0"/>
              <a:t> Added a numeric column for Attrition (Yes=1, No=0) to facilitate calculation of attrition rates.</a:t>
            </a:r>
          </a:p>
          <a:p>
            <a:pPr marL="285750" indent="-285750">
              <a:lnSpc>
                <a:spcPct val="150000"/>
              </a:lnSpc>
              <a:buFont typeface="Arial" panose="020B0604020202020204" pitchFamily="34" charset="0"/>
              <a:buChar char="•"/>
            </a:pPr>
            <a:r>
              <a:rPr lang="en-US" b="1" dirty="0"/>
              <a:t>Attrition Analysis:</a:t>
            </a:r>
            <a:r>
              <a:rPr lang="en-US" dirty="0"/>
              <a:t> Computed attrition rates for each factor using </a:t>
            </a:r>
            <a:r>
              <a:rPr lang="en-US" dirty="0" err="1"/>
              <a:t>groupBy</a:t>
            </a:r>
            <a:r>
              <a:rPr lang="en-US" dirty="0"/>
              <a:t> and average.</a:t>
            </a:r>
          </a:p>
          <a:p>
            <a:pPr marL="285750" indent="-285750">
              <a:lnSpc>
                <a:spcPct val="150000"/>
              </a:lnSpc>
              <a:buFont typeface="Arial" panose="020B0604020202020204" pitchFamily="34" charset="0"/>
              <a:buChar char="•"/>
            </a:pPr>
            <a:r>
              <a:rPr lang="en-US" b="1" dirty="0"/>
              <a:t>Visualization:</a:t>
            </a:r>
            <a:r>
              <a:rPr lang="en-US" dirty="0"/>
              <a:t> Converted results to Pandas </a:t>
            </a:r>
            <a:r>
              <a:rPr lang="en-US" dirty="0" err="1"/>
              <a:t>DataFrames</a:t>
            </a:r>
            <a:r>
              <a:rPr lang="en-US" dirty="0"/>
              <a:t> and created annotated plots using Matplotlib and Seaborn.</a:t>
            </a:r>
          </a:p>
          <a:p>
            <a:pPr marL="285750" indent="-285750">
              <a:lnSpc>
                <a:spcPct val="150000"/>
              </a:lnSpc>
              <a:buFont typeface="Arial" panose="020B0604020202020204" pitchFamily="34" charset="0"/>
              <a:buChar char="•"/>
            </a:pPr>
            <a:r>
              <a:rPr lang="en-US" b="1" dirty="0"/>
              <a:t>Interpretation:</a:t>
            </a:r>
            <a:r>
              <a:rPr lang="en-US" dirty="0"/>
              <a:t> Titles and annotations on plots highlight the main reasons behind high attrition for each factor.</a:t>
            </a:r>
          </a:p>
          <a:p>
            <a:pPr>
              <a:lnSpc>
                <a:spcPct val="150000"/>
              </a:lnSpc>
            </a:pPr>
            <a:endParaRPr lang="en-US" dirty="0"/>
          </a:p>
          <a:p>
            <a:pPr>
              <a:lnSpc>
                <a:spcPct val="150000"/>
              </a:lnSpc>
            </a:pPr>
            <a:endParaRPr lang="en-US" dirty="0"/>
          </a:p>
          <a:p>
            <a:pPr>
              <a:lnSpc>
                <a:spcPct val="150000"/>
              </a:lnSpc>
            </a:pPr>
            <a:r>
              <a:rPr lang="en-US" dirty="0"/>
              <a:t>Now let us see the attrition levels in different factors:</a:t>
            </a:r>
          </a:p>
        </p:txBody>
      </p:sp>
      <p:sp>
        <p:nvSpPr>
          <p:cNvPr id="3" name="TextBox 2">
            <a:extLst>
              <a:ext uri="{FF2B5EF4-FFF2-40B4-BE49-F238E27FC236}">
                <a16:creationId xmlns:a16="http://schemas.microsoft.com/office/drawing/2014/main" id="{4F9EABCF-E4E1-4AEC-62F7-300CFA0F1FCF}"/>
              </a:ext>
            </a:extLst>
          </p:cNvPr>
          <p:cNvSpPr txBox="1"/>
          <p:nvPr/>
        </p:nvSpPr>
        <p:spPr>
          <a:xfrm>
            <a:off x="10647025" y="6468970"/>
            <a:ext cx="1789470" cy="307777"/>
          </a:xfrm>
          <a:prstGeom prst="rect">
            <a:avLst/>
          </a:prstGeom>
          <a:noFill/>
        </p:spPr>
        <p:txBody>
          <a:bodyPr wrap="square" rtlCol="0">
            <a:spAutoFit/>
          </a:bodyPr>
          <a:lstStyle/>
          <a:p>
            <a:r>
              <a:rPr lang="en-US" sz="1400" dirty="0"/>
              <a:t>GAMYA BEHARA</a:t>
            </a:r>
            <a:endParaRPr lang="en-IN" sz="1400" dirty="0"/>
          </a:p>
        </p:txBody>
      </p:sp>
    </p:spTree>
    <p:extLst>
      <p:ext uri="{BB962C8B-B14F-4D97-AF65-F5344CB8AC3E}">
        <p14:creationId xmlns:p14="http://schemas.microsoft.com/office/powerpoint/2010/main" val="3686807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26A98-32F3-BC7C-21C4-4385B438777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3E3D710-A694-AA0A-24CB-870E4EF4AA5F}"/>
              </a:ext>
            </a:extLst>
          </p:cNvPr>
          <p:cNvSpPr txBox="1"/>
          <p:nvPr/>
        </p:nvSpPr>
        <p:spPr>
          <a:xfrm>
            <a:off x="274320" y="477520"/>
            <a:ext cx="11399520" cy="769441"/>
          </a:xfrm>
          <a:prstGeom prst="rect">
            <a:avLst/>
          </a:prstGeom>
          <a:noFill/>
        </p:spPr>
        <p:txBody>
          <a:bodyPr wrap="square" rtlCol="0">
            <a:spAutoFit/>
          </a:bodyPr>
          <a:lstStyle/>
          <a:p>
            <a:r>
              <a:rPr lang="en-IN" sz="4400" dirty="0"/>
              <a:t>Attrition – Department Level</a:t>
            </a:r>
          </a:p>
        </p:txBody>
      </p:sp>
      <p:sp>
        <p:nvSpPr>
          <p:cNvPr id="4" name="TextBox 3">
            <a:extLst>
              <a:ext uri="{FF2B5EF4-FFF2-40B4-BE49-F238E27FC236}">
                <a16:creationId xmlns:a16="http://schemas.microsoft.com/office/drawing/2014/main" id="{B7F1C2A3-C5F8-5734-520F-606F65AE5B41}"/>
              </a:ext>
            </a:extLst>
          </p:cNvPr>
          <p:cNvSpPr txBox="1"/>
          <p:nvPr/>
        </p:nvSpPr>
        <p:spPr>
          <a:xfrm>
            <a:off x="6341806" y="1246961"/>
            <a:ext cx="5575874" cy="5035353"/>
          </a:xfrm>
          <a:prstGeom prst="rect">
            <a:avLst/>
          </a:prstGeom>
          <a:noFill/>
        </p:spPr>
        <p:txBody>
          <a:bodyPr wrap="square" rtlCol="0">
            <a:spAutoFit/>
          </a:bodyPr>
          <a:lstStyle/>
          <a:p>
            <a:pPr>
              <a:lnSpc>
                <a:spcPct val="150000"/>
              </a:lnSpc>
            </a:pPr>
            <a:r>
              <a:rPr lang="en-US" b="1" dirty="0"/>
              <a:t>Attrition – Department wise :</a:t>
            </a:r>
          </a:p>
          <a:p>
            <a:pPr lvl="1" algn="just">
              <a:lnSpc>
                <a:spcPct val="150000"/>
              </a:lnSpc>
            </a:pPr>
            <a:r>
              <a:rPr lang="en-US" b="1" dirty="0"/>
              <a:t>Sales:</a:t>
            </a:r>
            <a:r>
              <a:rPr lang="en-US" dirty="0"/>
              <a:t> </a:t>
            </a:r>
          </a:p>
          <a:p>
            <a:pPr lvl="1" algn="just">
              <a:lnSpc>
                <a:spcPct val="150000"/>
              </a:lnSpc>
            </a:pPr>
            <a:r>
              <a:rPr lang="en-US" dirty="0"/>
              <a:t>highest attrition rate, greater turnover of employees </a:t>
            </a:r>
            <a:r>
              <a:rPr lang="en-US" b="1" dirty="0"/>
              <a:t>Human Resources (HR):</a:t>
            </a:r>
            <a:r>
              <a:rPr lang="en-US" dirty="0"/>
              <a:t> </a:t>
            </a:r>
          </a:p>
          <a:p>
            <a:pPr lvl="1" algn="just">
              <a:lnSpc>
                <a:spcPct val="150000"/>
              </a:lnSpc>
            </a:pPr>
            <a:r>
              <a:rPr lang="en-US" dirty="0"/>
              <a:t>moderate attrition, relatively stable retention.</a:t>
            </a:r>
          </a:p>
          <a:p>
            <a:pPr lvl="1" algn="just">
              <a:lnSpc>
                <a:spcPct val="150000"/>
              </a:lnSpc>
            </a:pPr>
            <a:r>
              <a:rPr lang="en-US" b="1" dirty="0"/>
              <a:t>Research &amp; Development (R&amp;D):</a:t>
            </a:r>
            <a:r>
              <a:rPr lang="en-US" dirty="0"/>
              <a:t> </a:t>
            </a:r>
          </a:p>
          <a:p>
            <a:pPr lvl="1" algn="just">
              <a:lnSpc>
                <a:spcPct val="150000"/>
              </a:lnSpc>
            </a:pPr>
            <a:r>
              <a:rPr lang="en-US" dirty="0"/>
              <a:t>lowest attrition, employee satisfaction</a:t>
            </a:r>
          </a:p>
          <a:p>
            <a:pPr algn="just">
              <a:lnSpc>
                <a:spcPct val="150000"/>
              </a:lnSpc>
            </a:pPr>
            <a:endParaRPr lang="en-US" dirty="0"/>
          </a:p>
          <a:p>
            <a:pPr algn="just">
              <a:lnSpc>
                <a:spcPct val="150000"/>
              </a:lnSpc>
            </a:pPr>
            <a:endParaRPr lang="en-US" dirty="0"/>
          </a:p>
          <a:p>
            <a:pPr marL="285750" indent="-285750" algn="just">
              <a:lnSpc>
                <a:spcPct val="150000"/>
              </a:lnSpc>
              <a:buFont typeface="Wingdings" panose="05000000000000000000" pitchFamily="2" charset="2"/>
              <a:buChar char="Ø"/>
            </a:pPr>
            <a:r>
              <a:rPr lang="en-US" b="1" dirty="0"/>
              <a:t>Insight:</a:t>
            </a:r>
            <a:r>
              <a:rPr lang="en-US" dirty="0"/>
              <a:t> Retention efforts should focus primarily on the Sales department, possibly by improving incentives or reducing stress-related workload</a:t>
            </a:r>
            <a:endParaRPr lang="en-US" b="1" dirty="0"/>
          </a:p>
        </p:txBody>
      </p:sp>
      <p:pic>
        <p:nvPicPr>
          <p:cNvPr id="5" name="Picture 4">
            <a:extLst>
              <a:ext uri="{FF2B5EF4-FFF2-40B4-BE49-F238E27FC236}">
                <a16:creationId xmlns:a16="http://schemas.microsoft.com/office/drawing/2014/main" id="{A15F4123-84F7-D126-BA03-E5C8A72A601D}"/>
              </a:ext>
            </a:extLst>
          </p:cNvPr>
          <p:cNvPicPr>
            <a:picLocks noChangeAspect="1"/>
          </p:cNvPicPr>
          <p:nvPr/>
        </p:nvPicPr>
        <p:blipFill>
          <a:blip r:embed="rId2"/>
          <a:stretch>
            <a:fillRect/>
          </a:stretch>
        </p:blipFill>
        <p:spPr>
          <a:xfrm>
            <a:off x="274319" y="1373497"/>
            <a:ext cx="5764505" cy="4358709"/>
          </a:xfrm>
          <a:prstGeom prst="rect">
            <a:avLst/>
          </a:prstGeom>
        </p:spPr>
      </p:pic>
      <p:sp>
        <p:nvSpPr>
          <p:cNvPr id="3" name="TextBox 2">
            <a:extLst>
              <a:ext uri="{FF2B5EF4-FFF2-40B4-BE49-F238E27FC236}">
                <a16:creationId xmlns:a16="http://schemas.microsoft.com/office/drawing/2014/main" id="{562D7F21-1300-A1E2-A3A1-F4909FCB5BE0}"/>
              </a:ext>
            </a:extLst>
          </p:cNvPr>
          <p:cNvSpPr txBox="1"/>
          <p:nvPr/>
        </p:nvSpPr>
        <p:spPr>
          <a:xfrm>
            <a:off x="10647025" y="6468970"/>
            <a:ext cx="1789470" cy="307777"/>
          </a:xfrm>
          <a:prstGeom prst="rect">
            <a:avLst/>
          </a:prstGeom>
          <a:noFill/>
        </p:spPr>
        <p:txBody>
          <a:bodyPr wrap="square" rtlCol="0">
            <a:spAutoFit/>
          </a:bodyPr>
          <a:lstStyle/>
          <a:p>
            <a:r>
              <a:rPr lang="en-US" sz="1400" dirty="0"/>
              <a:t>GAMYA BEHARA</a:t>
            </a:r>
            <a:endParaRPr lang="en-IN" sz="1400" dirty="0"/>
          </a:p>
        </p:txBody>
      </p:sp>
    </p:spTree>
    <p:extLst>
      <p:ext uri="{BB962C8B-B14F-4D97-AF65-F5344CB8AC3E}">
        <p14:creationId xmlns:p14="http://schemas.microsoft.com/office/powerpoint/2010/main" val="3366629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EDAFE-954A-451E-5A00-E093C81F247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3038D9A-23CB-6EEB-D75D-BB834E46E142}"/>
              </a:ext>
            </a:extLst>
          </p:cNvPr>
          <p:cNvSpPr txBox="1"/>
          <p:nvPr/>
        </p:nvSpPr>
        <p:spPr>
          <a:xfrm>
            <a:off x="274320" y="477520"/>
            <a:ext cx="11399520" cy="769441"/>
          </a:xfrm>
          <a:prstGeom prst="rect">
            <a:avLst/>
          </a:prstGeom>
          <a:noFill/>
        </p:spPr>
        <p:txBody>
          <a:bodyPr wrap="square" rtlCol="0">
            <a:spAutoFit/>
          </a:bodyPr>
          <a:lstStyle/>
          <a:p>
            <a:r>
              <a:rPr lang="en-IN" sz="4400" dirty="0"/>
              <a:t>Attrition – Gender Comparison</a:t>
            </a:r>
          </a:p>
        </p:txBody>
      </p:sp>
      <p:pic>
        <p:nvPicPr>
          <p:cNvPr id="7" name="Picture 6">
            <a:extLst>
              <a:ext uri="{FF2B5EF4-FFF2-40B4-BE49-F238E27FC236}">
                <a16:creationId xmlns:a16="http://schemas.microsoft.com/office/drawing/2014/main" id="{A8415403-AA0E-21E5-5C30-F54CC6486A93}"/>
              </a:ext>
            </a:extLst>
          </p:cNvPr>
          <p:cNvPicPr>
            <a:picLocks noChangeAspect="1"/>
          </p:cNvPicPr>
          <p:nvPr/>
        </p:nvPicPr>
        <p:blipFill>
          <a:blip r:embed="rId2"/>
          <a:stretch>
            <a:fillRect/>
          </a:stretch>
        </p:blipFill>
        <p:spPr>
          <a:xfrm>
            <a:off x="920659" y="1509839"/>
            <a:ext cx="4982270" cy="4782217"/>
          </a:xfrm>
          <a:prstGeom prst="rect">
            <a:avLst/>
          </a:prstGeom>
        </p:spPr>
      </p:pic>
      <p:sp>
        <p:nvSpPr>
          <p:cNvPr id="3" name="TextBox 2">
            <a:extLst>
              <a:ext uri="{FF2B5EF4-FFF2-40B4-BE49-F238E27FC236}">
                <a16:creationId xmlns:a16="http://schemas.microsoft.com/office/drawing/2014/main" id="{1DD9BE97-7D3B-C2CA-4307-9B8605B1D161}"/>
              </a:ext>
            </a:extLst>
          </p:cNvPr>
          <p:cNvSpPr txBox="1"/>
          <p:nvPr/>
        </p:nvSpPr>
        <p:spPr>
          <a:xfrm>
            <a:off x="6410632" y="1509839"/>
            <a:ext cx="5263208" cy="4342856"/>
          </a:xfrm>
          <a:prstGeom prst="rect">
            <a:avLst/>
          </a:prstGeom>
          <a:noFill/>
        </p:spPr>
        <p:txBody>
          <a:bodyPr wrap="square" rtlCol="0">
            <a:spAutoFit/>
          </a:bodyPr>
          <a:lstStyle/>
          <a:p>
            <a:r>
              <a:rPr lang="en-IN" b="1" dirty="0"/>
              <a:t>Attrition – Gender Comparison</a:t>
            </a:r>
          </a:p>
          <a:p>
            <a:endParaRPr lang="en-IN" b="1" dirty="0"/>
          </a:p>
          <a:p>
            <a:pPr marL="742950" lvl="1" indent="-285750" algn="just">
              <a:buFont typeface="Arial" panose="020B0604020202020204" pitchFamily="34" charset="0"/>
              <a:buChar char="•"/>
            </a:pPr>
            <a:r>
              <a:rPr lang="en-US" dirty="0"/>
              <a:t>Both genders experience attrition, but male employees show a slightly higher attrition rate than females</a:t>
            </a:r>
          </a:p>
          <a:p>
            <a:pPr marL="742950" lvl="1" indent="-285750" algn="just">
              <a:buFont typeface="Arial" panose="020B0604020202020204" pitchFamily="34" charset="0"/>
              <a:buChar char="•"/>
            </a:pPr>
            <a:endParaRPr lang="en-US" dirty="0"/>
          </a:p>
          <a:p>
            <a:pPr marL="742950" lvl="1" indent="-285750" algn="just">
              <a:buFont typeface="Arial" panose="020B0604020202020204" pitchFamily="34" charset="0"/>
              <a:buChar char="•"/>
            </a:pPr>
            <a:r>
              <a:rPr lang="en-US" dirty="0"/>
              <a:t>This could be due to differences in job roles, workload, or external opportunities pursued more by male employees.</a:t>
            </a:r>
          </a:p>
          <a:p>
            <a:pPr algn="just"/>
            <a:endParaRPr lang="en-US" dirty="0"/>
          </a:p>
          <a:p>
            <a:pPr algn="just"/>
            <a:endParaRPr lang="en-US" dirty="0"/>
          </a:p>
          <a:p>
            <a:pPr marL="285750" indent="-285750" algn="just">
              <a:lnSpc>
                <a:spcPct val="150000"/>
              </a:lnSpc>
              <a:buFont typeface="Wingdings" panose="05000000000000000000" pitchFamily="2" charset="2"/>
              <a:buChar char="Ø"/>
            </a:pPr>
            <a:r>
              <a:rPr lang="en-US" b="1" dirty="0"/>
              <a:t>Insight:</a:t>
            </a:r>
            <a:r>
              <a:rPr lang="en-US" dirty="0"/>
              <a:t> Gender doesn’t drastically impact attrition, but balanced engagement initiatives and flexible policies may improve retention for both.</a:t>
            </a:r>
          </a:p>
        </p:txBody>
      </p:sp>
      <p:sp>
        <p:nvSpPr>
          <p:cNvPr id="4" name="TextBox 3">
            <a:extLst>
              <a:ext uri="{FF2B5EF4-FFF2-40B4-BE49-F238E27FC236}">
                <a16:creationId xmlns:a16="http://schemas.microsoft.com/office/drawing/2014/main" id="{77387884-8815-93C4-F799-191402863C1C}"/>
              </a:ext>
            </a:extLst>
          </p:cNvPr>
          <p:cNvSpPr txBox="1"/>
          <p:nvPr/>
        </p:nvSpPr>
        <p:spPr>
          <a:xfrm>
            <a:off x="10647025" y="6468970"/>
            <a:ext cx="1789470" cy="307777"/>
          </a:xfrm>
          <a:prstGeom prst="rect">
            <a:avLst/>
          </a:prstGeom>
          <a:noFill/>
        </p:spPr>
        <p:txBody>
          <a:bodyPr wrap="square" rtlCol="0">
            <a:spAutoFit/>
          </a:bodyPr>
          <a:lstStyle/>
          <a:p>
            <a:r>
              <a:rPr lang="en-US" sz="1400" dirty="0"/>
              <a:t>GAMYA BEHARA</a:t>
            </a:r>
            <a:endParaRPr lang="en-IN" sz="1400" dirty="0"/>
          </a:p>
        </p:txBody>
      </p:sp>
    </p:spTree>
    <p:extLst>
      <p:ext uri="{BB962C8B-B14F-4D97-AF65-F5344CB8AC3E}">
        <p14:creationId xmlns:p14="http://schemas.microsoft.com/office/powerpoint/2010/main" val="104228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AA9C4-AEFC-875E-C5F2-13C18A977B3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509187C-BDE3-BE0D-A2AF-2728B528B5D2}"/>
              </a:ext>
            </a:extLst>
          </p:cNvPr>
          <p:cNvSpPr txBox="1"/>
          <p:nvPr/>
        </p:nvSpPr>
        <p:spPr>
          <a:xfrm>
            <a:off x="274320" y="477520"/>
            <a:ext cx="11399520" cy="769441"/>
          </a:xfrm>
          <a:prstGeom prst="rect">
            <a:avLst/>
          </a:prstGeom>
          <a:noFill/>
        </p:spPr>
        <p:txBody>
          <a:bodyPr wrap="square" rtlCol="0">
            <a:spAutoFit/>
          </a:bodyPr>
          <a:lstStyle/>
          <a:p>
            <a:r>
              <a:rPr lang="en-IN" sz="4400" dirty="0"/>
              <a:t>Attrition – Overtime Impact</a:t>
            </a:r>
          </a:p>
        </p:txBody>
      </p:sp>
      <p:pic>
        <p:nvPicPr>
          <p:cNvPr id="6" name="Picture 5">
            <a:extLst>
              <a:ext uri="{FF2B5EF4-FFF2-40B4-BE49-F238E27FC236}">
                <a16:creationId xmlns:a16="http://schemas.microsoft.com/office/drawing/2014/main" id="{F315175C-655E-D7E2-8488-8351ADE6FF66}"/>
              </a:ext>
            </a:extLst>
          </p:cNvPr>
          <p:cNvPicPr>
            <a:picLocks noChangeAspect="1"/>
          </p:cNvPicPr>
          <p:nvPr/>
        </p:nvPicPr>
        <p:blipFill>
          <a:blip r:embed="rId2"/>
          <a:srcRect r="7751"/>
          <a:stretch>
            <a:fillRect/>
          </a:stretch>
        </p:blipFill>
        <p:spPr>
          <a:xfrm>
            <a:off x="107172" y="1453774"/>
            <a:ext cx="5722664" cy="4189942"/>
          </a:xfrm>
          <a:prstGeom prst="rect">
            <a:avLst/>
          </a:prstGeom>
        </p:spPr>
      </p:pic>
      <p:sp>
        <p:nvSpPr>
          <p:cNvPr id="4" name="TextBox 3">
            <a:extLst>
              <a:ext uri="{FF2B5EF4-FFF2-40B4-BE49-F238E27FC236}">
                <a16:creationId xmlns:a16="http://schemas.microsoft.com/office/drawing/2014/main" id="{8550F17E-1F71-A054-14E9-A9EEA5552B57}"/>
              </a:ext>
            </a:extLst>
          </p:cNvPr>
          <p:cNvSpPr txBox="1"/>
          <p:nvPr/>
        </p:nvSpPr>
        <p:spPr>
          <a:xfrm>
            <a:off x="6096000" y="1442542"/>
            <a:ext cx="5900337" cy="4939814"/>
          </a:xfrm>
          <a:prstGeom prst="rect">
            <a:avLst/>
          </a:prstGeom>
          <a:noFill/>
        </p:spPr>
        <p:txBody>
          <a:bodyPr wrap="square">
            <a:spAutoFit/>
          </a:bodyPr>
          <a:lstStyle/>
          <a:p>
            <a:pPr>
              <a:buNone/>
            </a:pPr>
            <a:r>
              <a:rPr lang="en-IN" b="1" dirty="0"/>
              <a:t>Attrition – Overtime Impact</a:t>
            </a:r>
          </a:p>
          <a:p>
            <a:pPr marL="742950" lvl="1" indent="-285750" algn="just">
              <a:buFont typeface="Arial" panose="020B0604020202020204" pitchFamily="34" charset="0"/>
              <a:buChar char="•"/>
            </a:pPr>
            <a:endParaRPr lang="en-IN" b="1" dirty="0"/>
          </a:p>
          <a:p>
            <a:pPr marL="742950" lvl="1" indent="-285750" algn="just">
              <a:lnSpc>
                <a:spcPct val="150000"/>
              </a:lnSpc>
              <a:buFont typeface="Arial" panose="020B0604020202020204" pitchFamily="34" charset="0"/>
              <a:buChar char="•"/>
            </a:pPr>
            <a:r>
              <a:rPr lang="en-US" dirty="0"/>
              <a:t>Employees who work overtime have a significantly higher attrition rate compared to those who do not.</a:t>
            </a:r>
          </a:p>
          <a:p>
            <a:pPr marL="742950" lvl="1" indent="-285750" algn="just">
              <a:lnSpc>
                <a:spcPct val="150000"/>
              </a:lnSpc>
              <a:buFont typeface="Arial" panose="020B0604020202020204" pitchFamily="34" charset="0"/>
              <a:buChar char="•"/>
            </a:pPr>
            <a:r>
              <a:rPr lang="en-US" dirty="0"/>
              <a:t>Continuous overtime likely leads to burnout, lower satisfaction, and eventual turnover.</a:t>
            </a:r>
          </a:p>
          <a:p>
            <a:pPr>
              <a:buNone/>
            </a:pPr>
            <a:endParaRPr lang="en-IN" b="1" dirty="0"/>
          </a:p>
          <a:p>
            <a:pPr>
              <a:buNone/>
            </a:pPr>
            <a:endParaRPr lang="en-IN" b="1" dirty="0"/>
          </a:p>
          <a:p>
            <a:pPr>
              <a:buNone/>
            </a:pPr>
            <a:endParaRPr lang="en-IN" b="1" dirty="0"/>
          </a:p>
          <a:p>
            <a:pPr>
              <a:buNone/>
            </a:pPr>
            <a:endParaRPr lang="en-IN" b="1" dirty="0"/>
          </a:p>
          <a:p>
            <a:pPr marL="285750" indent="-285750" algn="just">
              <a:lnSpc>
                <a:spcPct val="150000"/>
              </a:lnSpc>
              <a:buFont typeface="Wingdings" panose="05000000000000000000" pitchFamily="2" charset="2"/>
              <a:buChar char="Ø"/>
            </a:pPr>
            <a:r>
              <a:rPr lang="en-US" b="1" dirty="0"/>
              <a:t>Insight:</a:t>
            </a:r>
            <a:r>
              <a:rPr lang="en-US" dirty="0"/>
              <a:t> Overworking correlates strongly with employee exits — organizations should monitor overtime frequency and encourage work-life balance.</a:t>
            </a:r>
            <a:endParaRPr lang="en-IN" b="1" dirty="0"/>
          </a:p>
          <a:p>
            <a:pPr>
              <a:buNone/>
            </a:pPr>
            <a:endParaRPr lang="en-IN" b="1" dirty="0"/>
          </a:p>
        </p:txBody>
      </p:sp>
      <p:sp>
        <p:nvSpPr>
          <p:cNvPr id="3" name="TextBox 2">
            <a:extLst>
              <a:ext uri="{FF2B5EF4-FFF2-40B4-BE49-F238E27FC236}">
                <a16:creationId xmlns:a16="http://schemas.microsoft.com/office/drawing/2014/main" id="{CED21C41-742F-2A86-3E4B-5B59E2F83B9A}"/>
              </a:ext>
            </a:extLst>
          </p:cNvPr>
          <p:cNvSpPr txBox="1"/>
          <p:nvPr/>
        </p:nvSpPr>
        <p:spPr>
          <a:xfrm>
            <a:off x="10647025" y="6468970"/>
            <a:ext cx="1789470" cy="307777"/>
          </a:xfrm>
          <a:prstGeom prst="rect">
            <a:avLst/>
          </a:prstGeom>
          <a:noFill/>
        </p:spPr>
        <p:txBody>
          <a:bodyPr wrap="square" rtlCol="0">
            <a:spAutoFit/>
          </a:bodyPr>
          <a:lstStyle/>
          <a:p>
            <a:r>
              <a:rPr lang="en-US" sz="1400" dirty="0"/>
              <a:t>GAMYA BEHARA</a:t>
            </a:r>
            <a:endParaRPr lang="en-IN" sz="1400" dirty="0"/>
          </a:p>
        </p:txBody>
      </p:sp>
    </p:spTree>
    <p:extLst>
      <p:ext uri="{BB962C8B-B14F-4D97-AF65-F5344CB8AC3E}">
        <p14:creationId xmlns:p14="http://schemas.microsoft.com/office/powerpoint/2010/main" val="1079895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575FE-2B40-6606-4D9A-9E9549EA04C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F35F4C2-B746-B889-573E-804FEADEEDCB}"/>
              </a:ext>
            </a:extLst>
          </p:cNvPr>
          <p:cNvSpPr txBox="1"/>
          <p:nvPr/>
        </p:nvSpPr>
        <p:spPr>
          <a:xfrm>
            <a:off x="274320" y="477520"/>
            <a:ext cx="11399520" cy="769441"/>
          </a:xfrm>
          <a:prstGeom prst="rect">
            <a:avLst/>
          </a:prstGeom>
          <a:noFill/>
        </p:spPr>
        <p:txBody>
          <a:bodyPr wrap="square" rtlCol="0">
            <a:spAutoFit/>
          </a:bodyPr>
          <a:lstStyle/>
          <a:p>
            <a:r>
              <a:rPr lang="en-IN" sz="4400" dirty="0"/>
              <a:t>Attrition – Income Band</a:t>
            </a:r>
          </a:p>
        </p:txBody>
      </p:sp>
      <p:pic>
        <p:nvPicPr>
          <p:cNvPr id="6" name="Picture 5">
            <a:extLst>
              <a:ext uri="{FF2B5EF4-FFF2-40B4-BE49-F238E27FC236}">
                <a16:creationId xmlns:a16="http://schemas.microsoft.com/office/drawing/2014/main" id="{71C3BAC5-7970-C97F-B81F-86CFE41A5C63}"/>
              </a:ext>
            </a:extLst>
          </p:cNvPr>
          <p:cNvPicPr>
            <a:picLocks noChangeAspect="1"/>
          </p:cNvPicPr>
          <p:nvPr/>
        </p:nvPicPr>
        <p:blipFill>
          <a:blip r:embed="rId2"/>
          <a:stretch>
            <a:fillRect/>
          </a:stretch>
        </p:blipFill>
        <p:spPr>
          <a:xfrm>
            <a:off x="448629" y="1246961"/>
            <a:ext cx="6188145" cy="4789454"/>
          </a:xfrm>
          <a:prstGeom prst="rect">
            <a:avLst/>
          </a:prstGeom>
        </p:spPr>
      </p:pic>
      <p:sp>
        <p:nvSpPr>
          <p:cNvPr id="3" name="TextBox 2">
            <a:extLst>
              <a:ext uri="{FF2B5EF4-FFF2-40B4-BE49-F238E27FC236}">
                <a16:creationId xmlns:a16="http://schemas.microsoft.com/office/drawing/2014/main" id="{5679DB01-58E0-1C44-46D8-7F4A9228CA1C}"/>
              </a:ext>
            </a:extLst>
          </p:cNvPr>
          <p:cNvSpPr txBox="1"/>
          <p:nvPr/>
        </p:nvSpPr>
        <p:spPr>
          <a:xfrm>
            <a:off x="6654472" y="1246961"/>
            <a:ext cx="5263208" cy="4896853"/>
          </a:xfrm>
          <a:prstGeom prst="rect">
            <a:avLst/>
          </a:prstGeom>
          <a:noFill/>
        </p:spPr>
        <p:txBody>
          <a:bodyPr wrap="square" rtlCol="0">
            <a:spAutoFit/>
          </a:bodyPr>
          <a:lstStyle/>
          <a:p>
            <a:r>
              <a:rPr lang="en-IN" b="1" dirty="0"/>
              <a:t>Attrition – Income Band</a:t>
            </a:r>
          </a:p>
          <a:p>
            <a:pPr algn="just">
              <a:lnSpc>
                <a:spcPct val="150000"/>
              </a:lnSpc>
            </a:pPr>
            <a:endParaRPr lang="en-IN" dirty="0"/>
          </a:p>
          <a:p>
            <a:pPr marL="742950" lvl="1" indent="-285750" algn="just">
              <a:lnSpc>
                <a:spcPct val="150000"/>
              </a:lnSpc>
              <a:buFont typeface="Arial" panose="020B0604020202020204" pitchFamily="34" charset="0"/>
              <a:buChar char="•"/>
            </a:pPr>
            <a:r>
              <a:rPr lang="en-US" dirty="0"/>
              <a:t>Lower income bands show much higher attrition, while higher income employees tend to stay longer</a:t>
            </a:r>
          </a:p>
          <a:p>
            <a:pPr marL="742950" lvl="1" indent="-285750" algn="just">
              <a:lnSpc>
                <a:spcPct val="150000"/>
              </a:lnSpc>
              <a:buFont typeface="Arial" panose="020B0604020202020204" pitchFamily="34" charset="0"/>
              <a:buChar char="•"/>
            </a:pPr>
            <a:r>
              <a:rPr lang="en-US" dirty="0"/>
              <a:t>This indicates that salary and financial incentives are major retention factors</a:t>
            </a:r>
          </a:p>
          <a:p>
            <a:pPr algn="just"/>
            <a:endParaRPr lang="en-US" dirty="0"/>
          </a:p>
          <a:p>
            <a:pPr algn="just"/>
            <a:endParaRPr lang="en-US" dirty="0"/>
          </a:p>
          <a:p>
            <a:pPr algn="just"/>
            <a:endParaRPr lang="en-US" dirty="0"/>
          </a:p>
          <a:p>
            <a:pPr marL="285750" indent="-285750" algn="just">
              <a:lnSpc>
                <a:spcPct val="150000"/>
              </a:lnSpc>
              <a:buFont typeface="Wingdings" panose="05000000000000000000" pitchFamily="2" charset="2"/>
              <a:buChar char="Ø"/>
            </a:pPr>
            <a:r>
              <a:rPr lang="en-US" b="1" dirty="0"/>
              <a:t>Insight:</a:t>
            </a:r>
            <a:r>
              <a:rPr lang="en-US" dirty="0"/>
              <a:t> Competitive compensation and growth opportunities are crucial to reduce attrition among lower-income employees..</a:t>
            </a:r>
          </a:p>
        </p:txBody>
      </p:sp>
      <p:sp>
        <p:nvSpPr>
          <p:cNvPr id="4" name="TextBox 3">
            <a:extLst>
              <a:ext uri="{FF2B5EF4-FFF2-40B4-BE49-F238E27FC236}">
                <a16:creationId xmlns:a16="http://schemas.microsoft.com/office/drawing/2014/main" id="{49261072-0AE7-CA3D-563F-9B2FEAD576BF}"/>
              </a:ext>
            </a:extLst>
          </p:cNvPr>
          <p:cNvSpPr txBox="1"/>
          <p:nvPr/>
        </p:nvSpPr>
        <p:spPr>
          <a:xfrm>
            <a:off x="10647025" y="6468970"/>
            <a:ext cx="1789470" cy="307777"/>
          </a:xfrm>
          <a:prstGeom prst="rect">
            <a:avLst/>
          </a:prstGeom>
          <a:noFill/>
        </p:spPr>
        <p:txBody>
          <a:bodyPr wrap="square" rtlCol="0">
            <a:spAutoFit/>
          </a:bodyPr>
          <a:lstStyle/>
          <a:p>
            <a:r>
              <a:rPr lang="en-US" sz="1400" dirty="0"/>
              <a:t>GAMYA BEHARA</a:t>
            </a:r>
            <a:endParaRPr lang="en-IN" sz="1400" dirty="0"/>
          </a:p>
        </p:txBody>
      </p:sp>
    </p:spTree>
    <p:extLst>
      <p:ext uri="{BB962C8B-B14F-4D97-AF65-F5344CB8AC3E}">
        <p14:creationId xmlns:p14="http://schemas.microsoft.com/office/powerpoint/2010/main" val="429911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5AB1A-1208-7A52-E531-D1D85505F39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B554534-0AD8-DA3F-D047-C5A6EA24BBEB}"/>
              </a:ext>
            </a:extLst>
          </p:cNvPr>
          <p:cNvSpPr txBox="1"/>
          <p:nvPr/>
        </p:nvSpPr>
        <p:spPr>
          <a:xfrm>
            <a:off x="274320" y="477520"/>
            <a:ext cx="11399520" cy="769441"/>
          </a:xfrm>
          <a:prstGeom prst="rect">
            <a:avLst/>
          </a:prstGeom>
          <a:noFill/>
        </p:spPr>
        <p:txBody>
          <a:bodyPr wrap="square" rtlCol="0">
            <a:spAutoFit/>
          </a:bodyPr>
          <a:lstStyle/>
          <a:p>
            <a:r>
              <a:rPr lang="en-IN" sz="4400" dirty="0"/>
              <a:t>Attrition – Promotion Gap</a:t>
            </a:r>
          </a:p>
        </p:txBody>
      </p:sp>
      <p:pic>
        <p:nvPicPr>
          <p:cNvPr id="5" name="Picture 4">
            <a:extLst>
              <a:ext uri="{FF2B5EF4-FFF2-40B4-BE49-F238E27FC236}">
                <a16:creationId xmlns:a16="http://schemas.microsoft.com/office/drawing/2014/main" id="{151289FF-0A00-A06E-8421-5374774A8964}"/>
              </a:ext>
            </a:extLst>
          </p:cNvPr>
          <p:cNvPicPr>
            <a:picLocks noChangeAspect="1"/>
          </p:cNvPicPr>
          <p:nvPr/>
        </p:nvPicPr>
        <p:blipFill>
          <a:blip r:embed="rId2"/>
          <a:stretch>
            <a:fillRect/>
          </a:stretch>
        </p:blipFill>
        <p:spPr>
          <a:xfrm>
            <a:off x="149626" y="1423755"/>
            <a:ext cx="7372051" cy="4010489"/>
          </a:xfrm>
          <a:prstGeom prst="rect">
            <a:avLst/>
          </a:prstGeom>
        </p:spPr>
      </p:pic>
      <p:sp>
        <p:nvSpPr>
          <p:cNvPr id="3" name="TextBox 2">
            <a:extLst>
              <a:ext uri="{FF2B5EF4-FFF2-40B4-BE49-F238E27FC236}">
                <a16:creationId xmlns:a16="http://schemas.microsoft.com/office/drawing/2014/main" id="{70904185-AB1D-F642-A35B-632B25141689}"/>
              </a:ext>
            </a:extLst>
          </p:cNvPr>
          <p:cNvSpPr txBox="1"/>
          <p:nvPr/>
        </p:nvSpPr>
        <p:spPr>
          <a:xfrm>
            <a:off x="7521677" y="1235206"/>
            <a:ext cx="4396003" cy="4896853"/>
          </a:xfrm>
          <a:prstGeom prst="rect">
            <a:avLst/>
          </a:prstGeom>
          <a:noFill/>
        </p:spPr>
        <p:txBody>
          <a:bodyPr wrap="square" rtlCol="0">
            <a:spAutoFit/>
          </a:bodyPr>
          <a:lstStyle/>
          <a:p>
            <a:r>
              <a:rPr lang="en-IN" b="1" dirty="0"/>
              <a:t>Attrition – Promotion Gap</a:t>
            </a:r>
          </a:p>
          <a:p>
            <a:endParaRPr lang="en-IN" b="1" dirty="0"/>
          </a:p>
          <a:p>
            <a:pPr marL="742950" lvl="1" indent="-285750" algn="just">
              <a:lnSpc>
                <a:spcPct val="150000"/>
              </a:lnSpc>
              <a:buFont typeface="Arial" panose="020B0604020202020204" pitchFamily="34" charset="0"/>
              <a:buChar char="•"/>
            </a:pPr>
            <a:r>
              <a:rPr lang="en-US" dirty="0"/>
              <a:t>Employees with longer durations since their last promotion exhibit higher attrition rates</a:t>
            </a:r>
          </a:p>
          <a:p>
            <a:pPr marL="742950" lvl="1" indent="-285750" algn="just">
              <a:lnSpc>
                <a:spcPct val="150000"/>
              </a:lnSpc>
              <a:buFont typeface="Arial" panose="020B0604020202020204" pitchFamily="34" charset="0"/>
              <a:buChar char="•"/>
            </a:pPr>
            <a:r>
              <a:rPr lang="en-US" dirty="0"/>
              <a:t>Those promoted recently are more engaged and less likely to leave.</a:t>
            </a:r>
            <a:endParaRPr lang="en-US" b="1" dirty="0"/>
          </a:p>
          <a:p>
            <a:pPr lvl="1" algn="just"/>
            <a:endParaRPr lang="en-US" b="1" dirty="0"/>
          </a:p>
          <a:p>
            <a:pPr lvl="1" algn="just"/>
            <a:endParaRPr lang="en-US" b="1" dirty="0"/>
          </a:p>
          <a:p>
            <a:pPr marL="285750" indent="-285750" algn="just">
              <a:lnSpc>
                <a:spcPct val="150000"/>
              </a:lnSpc>
              <a:buFont typeface="Wingdings" panose="05000000000000000000" pitchFamily="2" charset="2"/>
              <a:buChar char="Ø"/>
            </a:pPr>
            <a:r>
              <a:rPr lang="en-US" b="1" dirty="0"/>
              <a:t>Insight:</a:t>
            </a:r>
            <a:r>
              <a:rPr lang="en-US" dirty="0"/>
              <a:t> Career progression and timely recognition significantly influence retention — regular reviews and growth paths can help reduce turnover.</a:t>
            </a:r>
            <a:endParaRPr lang="en-US" b="1" dirty="0"/>
          </a:p>
        </p:txBody>
      </p:sp>
      <p:sp>
        <p:nvSpPr>
          <p:cNvPr id="4" name="TextBox 3">
            <a:extLst>
              <a:ext uri="{FF2B5EF4-FFF2-40B4-BE49-F238E27FC236}">
                <a16:creationId xmlns:a16="http://schemas.microsoft.com/office/drawing/2014/main" id="{62B486F3-6B2C-6DA5-AEA0-3B5ED7F6EDCC}"/>
              </a:ext>
            </a:extLst>
          </p:cNvPr>
          <p:cNvSpPr txBox="1"/>
          <p:nvPr/>
        </p:nvSpPr>
        <p:spPr>
          <a:xfrm>
            <a:off x="10647025" y="6468970"/>
            <a:ext cx="1789470" cy="307777"/>
          </a:xfrm>
          <a:prstGeom prst="rect">
            <a:avLst/>
          </a:prstGeom>
          <a:noFill/>
        </p:spPr>
        <p:txBody>
          <a:bodyPr wrap="square" rtlCol="0">
            <a:spAutoFit/>
          </a:bodyPr>
          <a:lstStyle/>
          <a:p>
            <a:r>
              <a:rPr lang="en-US" sz="1400" dirty="0"/>
              <a:t>GAMYA BEHARA</a:t>
            </a:r>
            <a:endParaRPr lang="en-IN" sz="1400" dirty="0"/>
          </a:p>
        </p:txBody>
      </p:sp>
    </p:spTree>
    <p:extLst>
      <p:ext uri="{BB962C8B-B14F-4D97-AF65-F5344CB8AC3E}">
        <p14:creationId xmlns:p14="http://schemas.microsoft.com/office/powerpoint/2010/main" val="16589820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DF2A7-6750-DEC8-5F5F-9FE2EE8C97E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18311B9-2433-2963-3607-EB1F2AE1D90C}"/>
              </a:ext>
            </a:extLst>
          </p:cNvPr>
          <p:cNvSpPr txBox="1"/>
          <p:nvPr/>
        </p:nvSpPr>
        <p:spPr>
          <a:xfrm>
            <a:off x="274320" y="477520"/>
            <a:ext cx="11399520" cy="769441"/>
          </a:xfrm>
          <a:prstGeom prst="rect">
            <a:avLst/>
          </a:prstGeom>
          <a:noFill/>
        </p:spPr>
        <p:txBody>
          <a:bodyPr wrap="square" rtlCol="0">
            <a:spAutoFit/>
          </a:bodyPr>
          <a:lstStyle/>
          <a:p>
            <a:r>
              <a:rPr lang="en-IN" sz="4400" dirty="0"/>
              <a:t>Attrition – Age Group</a:t>
            </a:r>
          </a:p>
        </p:txBody>
      </p:sp>
      <p:pic>
        <p:nvPicPr>
          <p:cNvPr id="5" name="Picture 4">
            <a:extLst>
              <a:ext uri="{FF2B5EF4-FFF2-40B4-BE49-F238E27FC236}">
                <a16:creationId xmlns:a16="http://schemas.microsoft.com/office/drawing/2014/main" id="{33A18773-465C-B659-44FB-05DFFF3F4FD5}"/>
              </a:ext>
            </a:extLst>
          </p:cNvPr>
          <p:cNvPicPr>
            <a:picLocks noChangeAspect="1"/>
          </p:cNvPicPr>
          <p:nvPr/>
        </p:nvPicPr>
        <p:blipFill>
          <a:blip r:embed="rId2"/>
          <a:stretch>
            <a:fillRect/>
          </a:stretch>
        </p:blipFill>
        <p:spPr>
          <a:xfrm>
            <a:off x="274320" y="1246961"/>
            <a:ext cx="6139544" cy="4482135"/>
          </a:xfrm>
          <a:prstGeom prst="rect">
            <a:avLst/>
          </a:prstGeom>
        </p:spPr>
      </p:pic>
      <p:sp>
        <p:nvSpPr>
          <p:cNvPr id="3" name="TextBox 2">
            <a:extLst>
              <a:ext uri="{FF2B5EF4-FFF2-40B4-BE49-F238E27FC236}">
                <a16:creationId xmlns:a16="http://schemas.microsoft.com/office/drawing/2014/main" id="{CDA63A7F-1B55-4DBB-DC29-341BC7F0EF17}"/>
              </a:ext>
            </a:extLst>
          </p:cNvPr>
          <p:cNvSpPr txBox="1"/>
          <p:nvPr/>
        </p:nvSpPr>
        <p:spPr>
          <a:xfrm>
            <a:off x="6390969" y="1246961"/>
            <a:ext cx="5526711" cy="4896853"/>
          </a:xfrm>
          <a:prstGeom prst="rect">
            <a:avLst/>
          </a:prstGeom>
          <a:noFill/>
        </p:spPr>
        <p:txBody>
          <a:bodyPr wrap="square">
            <a:spAutoFit/>
          </a:bodyPr>
          <a:lstStyle/>
          <a:p>
            <a:pPr>
              <a:buNone/>
            </a:pPr>
            <a:r>
              <a:rPr lang="en-IN" b="1" dirty="0"/>
              <a:t>Attrition – Age Group</a:t>
            </a:r>
          </a:p>
          <a:p>
            <a:pPr marL="742950" lvl="1" indent="-285750" algn="just">
              <a:buFont typeface="Arial" panose="020B0604020202020204" pitchFamily="34" charset="0"/>
              <a:buChar char="•"/>
            </a:pPr>
            <a:endParaRPr lang="en-IN" b="1" dirty="0"/>
          </a:p>
          <a:p>
            <a:pPr marL="742950" lvl="1" indent="-285750" algn="just">
              <a:lnSpc>
                <a:spcPct val="150000"/>
              </a:lnSpc>
              <a:buFont typeface="Arial" panose="020B0604020202020204" pitchFamily="34" charset="0"/>
              <a:buChar char="•"/>
            </a:pPr>
            <a:r>
              <a:rPr lang="en-US" b="1" dirty="0"/>
              <a:t>Younger employees (&lt;30 years)</a:t>
            </a:r>
            <a:r>
              <a:rPr lang="en-US" dirty="0"/>
              <a:t> show </a:t>
            </a:r>
            <a:r>
              <a:rPr lang="en-US" b="1" dirty="0"/>
              <a:t>the highest attrition</a:t>
            </a:r>
            <a:r>
              <a:rPr lang="en-US" dirty="0"/>
              <a:t>, suggesting early-career mobility or dissatisfaction.</a:t>
            </a:r>
          </a:p>
          <a:p>
            <a:pPr marL="742950" lvl="1" indent="-285750" algn="just">
              <a:lnSpc>
                <a:spcPct val="150000"/>
              </a:lnSpc>
              <a:buFont typeface="Arial" panose="020B0604020202020204" pitchFamily="34" charset="0"/>
              <a:buChar char="•"/>
            </a:pPr>
            <a:r>
              <a:rPr lang="en-US" b="1" dirty="0"/>
              <a:t>Older employees (40+)</a:t>
            </a:r>
            <a:r>
              <a:rPr lang="en-US" dirty="0"/>
              <a:t> have </a:t>
            </a:r>
            <a:r>
              <a:rPr lang="en-US" b="1" dirty="0"/>
              <a:t>lower attrition</a:t>
            </a:r>
            <a:r>
              <a:rPr lang="en-US" dirty="0"/>
              <a:t>, likely due to stability, loyalty, or satisfaction with their role</a:t>
            </a:r>
          </a:p>
          <a:p>
            <a:pPr>
              <a:buNone/>
            </a:pPr>
            <a:endParaRPr lang="en-IN" b="1" dirty="0"/>
          </a:p>
          <a:p>
            <a:pPr>
              <a:buNone/>
            </a:pPr>
            <a:endParaRPr lang="en-IN" b="1" dirty="0"/>
          </a:p>
          <a:p>
            <a:pPr marL="285750" indent="-285750" algn="just">
              <a:lnSpc>
                <a:spcPct val="150000"/>
              </a:lnSpc>
              <a:buFont typeface="Wingdings" panose="05000000000000000000" pitchFamily="2" charset="2"/>
              <a:buChar char="Ø"/>
            </a:pPr>
            <a:r>
              <a:rPr lang="en-US" b="1" dirty="0"/>
              <a:t>Insight:</a:t>
            </a:r>
            <a:r>
              <a:rPr lang="en-US" dirty="0"/>
              <a:t> Younger staff need targeted retention strategies — mentorship, learning programs, and early growth opportunities.</a:t>
            </a:r>
            <a:endParaRPr lang="en-IN" b="1" dirty="0"/>
          </a:p>
        </p:txBody>
      </p:sp>
      <p:sp>
        <p:nvSpPr>
          <p:cNvPr id="4" name="TextBox 3">
            <a:extLst>
              <a:ext uri="{FF2B5EF4-FFF2-40B4-BE49-F238E27FC236}">
                <a16:creationId xmlns:a16="http://schemas.microsoft.com/office/drawing/2014/main" id="{576D687E-7310-B550-A72F-EBE5A584B7B9}"/>
              </a:ext>
            </a:extLst>
          </p:cNvPr>
          <p:cNvSpPr txBox="1"/>
          <p:nvPr/>
        </p:nvSpPr>
        <p:spPr>
          <a:xfrm>
            <a:off x="10647025" y="6468970"/>
            <a:ext cx="1789470" cy="307777"/>
          </a:xfrm>
          <a:prstGeom prst="rect">
            <a:avLst/>
          </a:prstGeom>
          <a:noFill/>
        </p:spPr>
        <p:txBody>
          <a:bodyPr wrap="square" rtlCol="0">
            <a:spAutoFit/>
          </a:bodyPr>
          <a:lstStyle/>
          <a:p>
            <a:r>
              <a:rPr lang="en-US" sz="1400" dirty="0"/>
              <a:t>GAMYA BEHARA</a:t>
            </a:r>
            <a:endParaRPr lang="en-IN" sz="1400" dirty="0"/>
          </a:p>
        </p:txBody>
      </p:sp>
    </p:spTree>
    <p:extLst>
      <p:ext uri="{BB962C8B-B14F-4D97-AF65-F5344CB8AC3E}">
        <p14:creationId xmlns:p14="http://schemas.microsoft.com/office/powerpoint/2010/main" val="28654509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64A2E-DAAB-EAAA-9823-FD12987FFCB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9E0EF4B-E525-9A9E-DB9E-3A257557FF8D}"/>
              </a:ext>
            </a:extLst>
          </p:cNvPr>
          <p:cNvSpPr txBox="1"/>
          <p:nvPr/>
        </p:nvSpPr>
        <p:spPr>
          <a:xfrm>
            <a:off x="274320" y="477520"/>
            <a:ext cx="11399520" cy="769441"/>
          </a:xfrm>
          <a:prstGeom prst="rect">
            <a:avLst/>
          </a:prstGeom>
          <a:noFill/>
        </p:spPr>
        <p:txBody>
          <a:bodyPr wrap="square" rtlCol="0">
            <a:spAutoFit/>
          </a:bodyPr>
          <a:lstStyle/>
          <a:p>
            <a:r>
              <a:rPr lang="en-IN" sz="4400" dirty="0"/>
              <a:t>Attrition – Job Satisfaction</a:t>
            </a:r>
          </a:p>
        </p:txBody>
      </p:sp>
      <p:pic>
        <p:nvPicPr>
          <p:cNvPr id="5" name="Picture 4">
            <a:extLst>
              <a:ext uri="{FF2B5EF4-FFF2-40B4-BE49-F238E27FC236}">
                <a16:creationId xmlns:a16="http://schemas.microsoft.com/office/drawing/2014/main" id="{FB20E4B6-D8C6-B0B1-1CD1-9B419AED43D0}"/>
              </a:ext>
            </a:extLst>
          </p:cNvPr>
          <p:cNvPicPr>
            <a:picLocks noChangeAspect="1"/>
          </p:cNvPicPr>
          <p:nvPr/>
        </p:nvPicPr>
        <p:blipFill>
          <a:blip r:embed="rId2"/>
          <a:stretch>
            <a:fillRect/>
          </a:stretch>
        </p:blipFill>
        <p:spPr>
          <a:xfrm>
            <a:off x="383787" y="1337188"/>
            <a:ext cx="6026469" cy="4386128"/>
          </a:xfrm>
          <a:prstGeom prst="rect">
            <a:avLst/>
          </a:prstGeom>
        </p:spPr>
      </p:pic>
      <p:sp>
        <p:nvSpPr>
          <p:cNvPr id="4" name="TextBox 3">
            <a:extLst>
              <a:ext uri="{FF2B5EF4-FFF2-40B4-BE49-F238E27FC236}">
                <a16:creationId xmlns:a16="http://schemas.microsoft.com/office/drawing/2014/main" id="{68E1B187-F52E-4113-7FB2-9898835661AC}"/>
              </a:ext>
            </a:extLst>
          </p:cNvPr>
          <p:cNvSpPr txBox="1"/>
          <p:nvPr/>
        </p:nvSpPr>
        <p:spPr>
          <a:xfrm>
            <a:off x="6685934" y="1337188"/>
            <a:ext cx="5230763" cy="5493812"/>
          </a:xfrm>
          <a:prstGeom prst="rect">
            <a:avLst/>
          </a:prstGeom>
          <a:noFill/>
        </p:spPr>
        <p:txBody>
          <a:bodyPr wrap="square">
            <a:spAutoFit/>
          </a:bodyPr>
          <a:lstStyle/>
          <a:p>
            <a:r>
              <a:rPr lang="en-IN" b="1" dirty="0"/>
              <a:t>Attrition – Job Satisfaction</a:t>
            </a:r>
          </a:p>
          <a:p>
            <a:endParaRPr lang="en-IN" dirty="0"/>
          </a:p>
          <a:p>
            <a:pPr marL="742950" lvl="1" indent="-285750" algn="just">
              <a:lnSpc>
                <a:spcPct val="150000"/>
              </a:lnSpc>
              <a:buFont typeface="Arial" panose="020B0604020202020204" pitchFamily="34" charset="0"/>
              <a:buChar char="•"/>
            </a:pPr>
            <a:r>
              <a:rPr lang="en-US" dirty="0"/>
              <a:t>Employees with low job satisfaction show a significantly higher attrition rate compared to those who are more satisfied with their jobs</a:t>
            </a:r>
          </a:p>
          <a:p>
            <a:pPr algn="just">
              <a:lnSpc>
                <a:spcPct val="150000"/>
              </a:lnSpc>
            </a:pPr>
            <a:endParaRPr lang="en-US" dirty="0"/>
          </a:p>
          <a:p>
            <a:pPr algn="just">
              <a:lnSpc>
                <a:spcPct val="150000"/>
              </a:lnSpc>
            </a:pPr>
            <a:endParaRPr lang="en-US" dirty="0"/>
          </a:p>
          <a:p>
            <a:pPr algn="just">
              <a:lnSpc>
                <a:spcPct val="150000"/>
              </a:lnSpc>
            </a:pPr>
            <a:endParaRPr lang="en-US" dirty="0"/>
          </a:p>
          <a:p>
            <a:pPr marL="285750" indent="-285750" algn="just">
              <a:lnSpc>
                <a:spcPct val="150000"/>
              </a:lnSpc>
              <a:buFont typeface="Wingdings" panose="05000000000000000000" pitchFamily="2" charset="2"/>
              <a:buChar char="Ø"/>
            </a:pPr>
            <a:r>
              <a:rPr lang="en-US" b="1" dirty="0"/>
              <a:t>Insight:</a:t>
            </a:r>
            <a:r>
              <a:rPr lang="en-US" dirty="0"/>
              <a:t> Improving job satisfaction through regular feedback, career development programs, and recognition initiatives can greatly reduce attrition and enhance employee retention.</a:t>
            </a:r>
          </a:p>
          <a:p>
            <a:pPr algn="just">
              <a:lnSpc>
                <a:spcPct val="150000"/>
              </a:lnSpc>
            </a:pPr>
            <a:endParaRPr lang="en-US" dirty="0"/>
          </a:p>
          <a:p>
            <a:endParaRPr lang="en-IN" dirty="0"/>
          </a:p>
        </p:txBody>
      </p:sp>
      <p:sp>
        <p:nvSpPr>
          <p:cNvPr id="3" name="TextBox 2">
            <a:extLst>
              <a:ext uri="{FF2B5EF4-FFF2-40B4-BE49-F238E27FC236}">
                <a16:creationId xmlns:a16="http://schemas.microsoft.com/office/drawing/2014/main" id="{28A43C4C-5334-A2FE-28F7-F86E830CD67C}"/>
              </a:ext>
            </a:extLst>
          </p:cNvPr>
          <p:cNvSpPr txBox="1"/>
          <p:nvPr/>
        </p:nvSpPr>
        <p:spPr>
          <a:xfrm>
            <a:off x="10647025" y="6468970"/>
            <a:ext cx="1789470" cy="307777"/>
          </a:xfrm>
          <a:prstGeom prst="rect">
            <a:avLst/>
          </a:prstGeom>
          <a:noFill/>
        </p:spPr>
        <p:txBody>
          <a:bodyPr wrap="square" rtlCol="0">
            <a:spAutoFit/>
          </a:bodyPr>
          <a:lstStyle/>
          <a:p>
            <a:r>
              <a:rPr lang="en-US" sz="1400" dirty="0"/>
              <a:t>GAMYA BEHARA</a:t>
            </a:r>
            <a:endParaRPr lang="en-IN" sz="1400" dirty="0"/>
          </a:p>
        </p:txBody>
      </p:sp>
    </p:spTree>
    <p:extLst>
      <p:ext uri="{BB962C8B-B14F-4D97-AF65-F5344CB8AC3E}">
        <p14:creationId xmlns:p14="http://schemas.microsoft.com/office/powerpoint/2010/main" val="2906816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B5FD8-A2FF-D9D9-78F0-F428B35950F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B0289A1-A2F0-2F4A-D6D2-71A8E5D86992}"/>
              </a:ext>
            </a:extLst>
          </p:cNvPr>
          <p:cNvSpPr txBox="1"/>
          <p:nvPr/>
        </p:nvSpPr>
        <p:spPr>
          <a:xfrm>
            <a:off x="274320" y="477520"/>
            <a:ext cx="11399520" cy="769441"/>
          </a:xfrm>
          <a:prstGeom prst="rect">
            <a:avLst/>
          </a:prstGeom>
          <a:noFill/>
        </p:spPr>
        <p:txBody>
          <a:bodyPr wrap="square" rtlCol="0">
            <a:spAutoFit/>
          </a:bodyPr>
          <a:lstStyle/>
          <a:p>
            <a:r>
              <a:rPr lang="en-IN" sz="4400" dirty="0"/>
              <a:t>Major factors responsible for Attrition </a:t>
            </a:r>
          </a:p>
        </p:txBody>
      </p:sp>
      <p:pic>
        <p:nvPicPr>
          <p:cNvPr id="4" name="Picture 3">
            <a:extLst>
              <a:ext uri="{FF2B5EF4-FFF2-40B4-BE49-F238E27FC236}">
                <a16:creationId xmlns:a16="http://schemas.microsoft.com/office/drawing/2014/main" id="{4328D51A-9F77-B749-EFB0-00309B214C2E}"/>
              </a:ext>
            </a:extLst>
          </p:cNvPr>
          <p:cNvPicPr>
            <a:picLocks noChangeAspect="1"/>
          </p:cNvPicPr>
          <p:nvPr/>
        </p:nvPicPr>
        <p:blipFill>
          <a:blip r:embed="rId2"/>
          <a:stretch>
            <a:fillRect/>
          </a:stretch>
        </p:blipFill>
        <p:spPr>
          <a:xfrm>
            <a:off x="-404" y="1494209"/>
            <a:ext cx="7867662" cy="4385481"/>
          </a:xfrm>
          <a:prstGeom prst="rect">
            <a:avLst/>
          </a:prstGeom>
        </p:spPr>
      </p:pic>
      <p:sp>
        <p:nvSpPr>
          <p:cNvPr id="3" name="TextBox 2">
            <a:extLst>
              <a:ext uri="{FF2B5EF4-FFF2-40B4-BE49-F238E27FC236}">
                <a16:creationId xmlns:a16="http://schemas.microsoft.com/office/drawing/2014/main" id="{507A729E-8792-D7C2-7437-11A5EAC9D5C9}"/>
              </a:ext>
            </a:extLst>
          </p:cNvPr>
          <p:cNvSpPr txBox="1"/>
          <p:nvPr/>
        </p:nvSpPr>
        <p:spPr>
          <a:xfrm>
            <a:off x="7739438" y="1663042"/>
            <a:ext cx="4206755" cy="2680862"/>
          </a:xfrm>
          <a:prstGeom prst="rect">
            <a:avLst/>
          </a:prstGeom>
          <a:noFill/>
        </p:spPr>
        <p:txBody>
          <a:bodyPr wrap="square">
            <a:spAutoFit/>
          </a:bodyPr>
          <a:lstStyle/>
          <a:p>
            <a:pPr>
              <a:buNone/>
            </a:pPr>
            <a:r>
              <a:rPr lang="en-US" b="1" dirty="0"/>
              <a:t>Factors Responsible for Attrition</a:t>
            </a:r>
            <a:br>
              <a:rPr lang="en-US" dirty="0"/>
            </a:br>
            <a:endParaRPr lang="en-US" dirty="0"/>
          </a:p>
          <a:p>
            <a:pPr marL="285750" indent="-285750" algn="just">
              <a:lnSpc>
                <a:spcPct val="150000"/>
              </a:lnSpc>
              <a:buFont typeface="Arial" panose="020B0604020202020204" pitchFamily="34" charset="0"/>
              <a:buChar char="•"/>
            </a:pPr>
            <a:r>
              <a:rPr lang="en-US" dirty="0"/>
              <a:t>Various employee attributes contribute to attrition within the organization.</a:t>
            </a:r>
          </a:p>
          <a:p>
            <a:pPr marL="285750" indent="-285750" algn="just">
              <a:lnSpc>
                <a:spcPct val="150000"/>
              </a:lnSpc>
              <a:buFont typeface="Arial" panose="020B0604020202020204" pitchFamily="34" charset="0"/>
              <a:buChar char="•"/>
            </a:pPr>
            <a:r>
              <a:rPr lang="en-US" dirty="0"/>
              <a:t>Among them, excessive overtime combined with low income are key factors driving employee turnover.</a:t>
            </a:r>
            <a:endParaRPr lang="en-IN" b="1" dirty="0"/>
          </a:p>
        </p:txBody>
      </p:sp>
      <p:sp>
        <p:nvSpPr>
          <p:cNvPr id="5" name="TextBox 4">
            <a:extLst>
              <a:ext uri="{FF2B5EF4-FFF2-40B4-BE49-F238E27FC236}">
                <a16:creationId xmlns:a16="http://schemas.microsoft.com/office/drawing/2014/main" id="{CF67D284-E0F3-3EC1-3DEB-9E210CAD6393}"/>
              </a:ext>
            </a:extLst>
          </p:cNvPr>
          <p:cNvSpPr txBox="1"/>
          <p:nvPr/>
        </p:nvSpPr>
        <p:spPr>
          <a:xfrm>
            <a:off x="10647025" y="6468970"/>
            <a:ext cx="1789470" cy="307777"/>
          </a:xfrm>
          <a:prstGeom prst="rect">
            <a:avLst/>
          </a:prstGeom>
          <a:noFill/>
        </p:spPr>
        <p:txBody>
          <a:bodyPr wrap="square" rtlCol="0">
            <a:spAutoFit/>
          </a:bodyPr>
          <a:lstStyle/>
          <a:p>
            <a:r>
              <a:rPr lang="en-US" sz="1400" dirty="0"/>
              <a:t>GAMYA BEHARA</a:t>
            </a:r>
            <a:endParaRPr lang="en-IN" sz="1400" dirty="0"/>
          </a:p>
        </p:txBody>
      </p:sp>
    </p:spTree>
    <p:extLst>
      <p:ext uri="{BB962C8B-B14F-4D97-AF65-F5344CB8AC3E}">
        <p14:creationId xmlns:p14="http://schemas.microsoft.com/office/powerpoint/2010/main" val="2782338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0888C-4498-536E-2511-9A3947FD756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951EA61-98D5-01C1-6EA7-DD60E4F4E31A}"/>
              </a:ext>
            </a:extLst>
          </p:cNvPr>
          <p:cNvPicPr>
            <a:picLocks noChangeAspect="1"/>
          </p:cNvPicPr>
          <p:nvPr/>
        </p:nvPicPr>
        <p:blipFill>
          <a:blip r:embed="rId2"/>
          <a:stretch>
            <a:fillRect/>
          </a:stretch>
        </p:blipFill>
        <p:spPr>
          <a:xfrm>
            <a:off x="274320" y="1246961"/>
            <a:ext cx="7838638" cy="4986394"/>
          </a:xfrm>
          <a:prstGeom prst="rect">
            <a:avLst/>
          </a:prstGeom>
        </p:spPr>
      </p:pic>
      <p:sp>
        <p:nvSpPr>
          <p:cNvPr id="3" name="TextBox 2">
            <a:extLst>
              <a:ext uri="{FF2B5EF4-FFF2-40B4-BE49-F238E27FC236}">
                <a16:creationId xmlns:a16="http://schemas.microsoft.com/office/drawing/2014/main" id="{08737FFC-9D5F-E3D4-8942-AB326D6DE4F6}"/>
              </a:ext>
            </a:extLst>
          </p:cNvPr>
          <p:cNvSpPr txBox="1"/>
          <p:nvPr/>
        </p:nvSpPr>
        <p:spPr>
          <a:xfrm>
            <a:off x="274320" y="477520"/>
            <a:ext cx="11399520" cy="769441"/>
          </a:xfrm>
          <a:prstGeom prst="rect">
            <a:avLst/>
          </a:prstGeom>
          <a:noFill/>
        </p:spPr>
        <p:txBody>
          <a:bodyPr wrap="square" rtlCol="0">
            <a:spAutoFit/>
          </a:bodyPr>
          <a:lstStyle/>
          <a:p>
            <a:r>
              <a:rPr lang="en-IN" sz="4400" dirty="0"/>
              <a:t>Attrition – Who left due to Overtime? </a:t>
            </a:r>
          </a:p>
        </p:txBody>
      </p:sp>
      <p:sp>
        <p:nvSpPr>
          <p:cNvPr id="5" name="TextBox 4">
            <a:extLst>
              <a:ext uri="{FF2B5EF4-FFF2-40B4-BE49-F238E27FC236}">
                <a16:creationId xmlns:a16="http://schemas.microsoft.com/office/drawing/2014/main" id="{44641966-B47A-0F34-F2C6-B938AA2300C6}"/>
              </a:ext>
            </a:extLst>
          </p:cNvPr>
          <p:cNvSpPr txBox="1"/>
          <p:nvPr/>
        </p:nvSpPr>
        <p:spPr>
          <a:xfrm>
            <a:off x="7954297" y="1358151"/>
            <a:ext cx="3963383" cy="3927357"/>
          </a:xfrm>
          <a:prstGeom prst="rect">
            <a:avLst/>
          </a:prstGeom>
          <a:noFill/>
        </p:spPr>
        <p:txBody>
          <a:bodyPr wrap="square">
            <a:spAutoFit/>
          </a:bodyPr>
          <a:lstStyle/>
          <a:p>
            <a:pPr algn="just">
              <a:lnSpc>
                <a:spcPct val="150000"/>
              </a:lnSpc>
            </a:pPr>
            <a:r>
              <a:rPr lang="en-US" dirty="0"/>
              <a:t>Sales representatives experience high attrition mainly due to long working hours and frequent overtime demands</a:t>
            </a:r>
          </a:p>
          <a:p>
            <a:pPr algn="just"/>
            <a:endParaRPr lang="en-US" dirty="0"/>
          </a:p>
          <a:p>
            <a:pPr algn="just"/>
            <a:endParaRPr lang="en-US" dirty="0"/>
          </a:p>
          <a:p>
            <a:pPr algn="just">
              <a:lnSpc>
                <a:spcPct val="150000"/>
              </a:lnSpc>
            </a:pPr>
            <a:r>
              <a:rPr lang="en-US" dirty="0"/>
              <a:t>More factors:</a:t>
            </a:r>
          </a:p>
          <a:p>
            <a:pPr marL="285750" indent="-285750" algn="just">
              <a:lnSpc>
                <a:spcPct val="150000"/>
              </a:lnSpc>
              <a:buFont typeface="Arial" panose="020B0604020202020204" pitchFamily="34" charset="0"/>
              <a:buChar char="•"/>
            </a:pPr>
            <a:r>
              <a:rPr lang="en-US" dirty="0"/>
              <a:t>Low income levels and limited incentives</a:t>
            </a:r>
            <a:endParaRPr lang="en-IN" dirty="0"/>
          </a:p>
          <a:p>
            <a:pPr marL="285750" indent="-285750" algn="just">
              <a:lnSpc>
                <a:spcPct val="150000"/>
              </a:lnSpc>
              <a:buFont typeface="Arial" panose="020B0604020202020204" pitchFamily="34" charset="0"/>
              <a:buChar char="•"/>
            </a:pPr>
            <a:r>
              <a:rPr lang="en-US" dirty="0"/>
              <a:t>Work stress and inadequate financial rewards</a:t>
            </a:r>
            <a:endParaRPr lang="en-IN" dirty="0"/>
          </a:p>
        </p:txBody>
      </p:sp>
      <p:sp>
        <p:nvSpPr>
          <p:cNvPr id="2" name="TextBox 1">
            <a:extLst>
              <a:ext uri="{FF2B5EF4-FFF2-40B4-BE49-F238E27FC236}">
                <a16:creationId xmlns:a16="http://schemas.microsoft.com/office/drawing/2014/main" id="{BE17073B-17EE-B178-6E55-314D9D9F6B21}"/>
              </a:ext>
            </a:extLst>
          </p:cNvPr>
          <p:cNvSpPr txBox="1"/>
          <p:nvPr/>
        </p:nvSpPr>
        <p:spPr>
          <a:xfrm>
            <a:off x="10647025" y="6468970"/>
            <a:ext cx="1789470" cy="307777"/>
          </a:xfrm>
          <a:prstGeom prst="rect">
            <a:avLst/>
          </a:prstGeom>
          <a:noFill/>
        </p:spPr>
        <p:txBody>
          <a:bodyPr wrap="square" rtlCol="0">
            <a:spAutoFit/>
          </a:bodyPr>
          <a:lstStyle/>
          <a:p>
            <a:r>
              <a:rPr lang="en-US" sz="1400" dirty="0"/>
              <a:t>GAMYA BEHARA</a:t>
            </a:r>
            <a:endParaRPr lang="en-IN" sz="1400" dirty="0"/>
          </a:p>
        </p:txBody>
      </p:sp>
    </p:spTree>
    <p:extLst>
      <p:ext uri="{BB962C8B-B14F-4D97-AF65-F5344CB8AC3E}">
        <p14:creationId xmlns:p14="http://schemas.microsoft.com/office/powerpoint/2010/main" val="1261710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0AA7A-07C9-BA1A-F187-061845A5450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BBA1F2D-B915-FF1D-108B-F31FD6CF52B6}"/>
              </a:ext>
            </a:extLst>
          </p:cNvPr>
          <p:cNvSpPr txBox="1"/>
          <p:nvPr/>
        </p:nvSpPr>
        <p:spPr>
          <a:xfrm>
            <a:off x="274320" y="477520"/>
            <a:ext cx="11399520" cy="769441"/>
          </a:xfrm>
          <a:prstGeom prst="rect">
            <a:avLst/>
          </a:prstGeom>
          <a:noFill/>
        </p:spPr>
        <p:txBody>
          <a:bodyPr wrap="square" rtlCol="0">
            <a:spAutoFit/>
          </a:bodyPr>
          <a:lstStyle/>
          <a:p>
            <a:r>
              <a:rPr lang="en-IN" sz="4400" dirty="0"/>
              <a:t>OBSERVATION</a:t>
            </a:r>
          </a:p>
        </p:txBody>
      </p:sp>
      <p:sp>
        <p:nvSpPr>
          <p:cNvPr id="4" name="TextBox 3">
            <a:extLst>
              <a:ext uri="{FF2B5EF4-FFF2-40B4-BE49-F238E27FC236}">
                <a16:creationId xmlns:a16="http://schemas.microsoft.com/office/drawing/2014/main" id="{0C1FA3AD-C77D-F705-9391-8C51DADF5D61}"/>
              </a:ext>
            </a:extLst>
          </p:cNvPr>
          <p:cNvSpPr txBox="1"/>
          <p:nvPr/>
        </p:nvSpPr>
        <p:spPr>
          <a:xfrm>
            <a:off x="193040" y="1246961"/>
            <a:ext cx="11562080" cy="4619854"/>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dirty="0"/>
              <a:t>The analysis reveals that employee attrition in the organization is primarily influenced by factors such as overtime, low income, lack of promotions, and low job satisfaction. Departments like Sales experience the highest turnover, especially among younger employees and those earning lower salaries.</a:t>
            </a:r>
          </a:p>
          <a:p>
            <a:pPr marL="285750" indent="-285750" algn="just">
              <a:lnSpc>
                <a:spcPct val="150000"/>
              </a:lnSpc>
              <a:buFont typeface="Arial" panose="020B0604020202020204" pitchFamily="34" charset="0"/>
              <a:buChar char="•"/>
            </a:pPr>
            <a:r>
              <a:rPr lang="en-US" dirty="0"/>
              <a:t>Excessive workload and inadequate financial or career growth opportunities lead to reduced engagement and higher resignation rates. On the other hand, employees with better compensation, work-life balance, and satisfaction tend to remain longer with the company.</a:t>
            </a:r>
          </a:p>
          <a:p>
            <a:pPr algn="just">
              <a:lnSpc>
                <a:spcPct val="150000"/>
              </a:lnSpc>
            </a:pPr>
            <a:endParaRPr lang="en-US" dirty="0"/>
          </a:p>
          <a:p>
            <a:pPr algn="just">
              <a:lnSpc>
                <a:spcPct val="150000"/>
              </a:lnSpc>
            </a:pPr>
            <a:endParaRPr lang="en-US" dirty="0"/>
          </a:p>
          <a:p>
            <a:pPr algn="just">
              <a:lnSpc>
                <a:spcPct val="150000"/>
              </a:lnSpc>
            </a:pPr>
            <a:endParaRPr lang="en-US" dirty="0"/>
          </a:p>
          <a:p>
            <a:pPr algn="just">
              <a:lnSpc>
                <a:spcPct val="150000"/>
              </a:lnSpc>
            </a:pPr>
            <a:r>
              <a:rPr lang="en-US" dirty="0"/>
              <a:t>To minimize attrition, organizations should focus on fair compensation, timely promotions, balanced workloads, and initiatives that enhance employee satisfaction and well-being.</a:t>
            </a:r>
          </a:p>
        </p:txBody>
      </p:sp>
      <p:sp>
        <p:nvSpPr>
          <p:cNvPr id="3" name="TextBox 2">
            <a:extLst>
              <a:ext uri="{FF2B5EF4-FFF2-40B4-BE49-F238E27FC236}">
                <a16:creationId xmlns:a16="http://schemas.microsoft.com/office/drawing/2014/main" id="{5376546C-C27A-5E50-8409-6928DA7157B8}"/>
              </a:ext>
            </a:extLst>
          </p:cNvPr>
          <p:cNvSpPr txBox="1"/>
          <p:nvPr/>
        </p:nvSpPr>
        <p:spPr>
          <a:xfrm>
            <a:off x="10647025" y="6468970"/>
            <a:ext cx="1789470" cy="307777"/>
          </a:xfrm>
          <a:prstGeom prst="rect">
            <a:avLst/>
          </a:prstGeom>
          <a:noFill/>
        </p:spPr>
        <p:txBody>
          <a:bodyPr wrap="square" rtlCol="0">
            <a:spAutoFit/>
          </a:bodyPr>
          <a:lstStyle/>
          <a:p>
            <a:r>
              <a:rPr lang="en-US" sz="1400" dirty="0"/>
              <a:t>GAMYA BEHARA</a:t>
            </a:r>
            <a:endParaRPr lang="en-IN" sz="1400" dirty="0"/>
          </a:p>
        </p:txBody>
      </p:sp>
    </p:spTree>
    <p:extLst>
      <p:ext uri="{BB962C8B-B14F-4D97-AF65-F5344CB8AC3E}">
        <p14:creationId xmlns:p14="http://schemas.microsoft.com/office/powerpoint/2010/main" val="564544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FF31D-6A4B-91AE-896D-2EE8377A555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54DB72-3668-D2AC-3D10-843B819C2894}"/>
              </a:ext>
            </a:extLst>
          </p:cNvPr>
          <p:cNvSpPr txBox="1"/>
          <p:nvPr/>
        </p:nvSpPr>
        <p:spPr>
          <a:xfrm>
            <a:off x="274320" y="477520"/>
            <a:ext cx="11399520" cy="769441"/>
          </a:xfrm>
          <a:prstGeom prst="rect">
            <a:avLst/>
          </a:prstGeom>
          <a:noFill/>
        </p:spPr>
        <p:txBody>
          <a:bodyPr wrap="square" rtlCol="0">
            <a:spAutoFit/>
          </a:bodyPr>
          <a:lstStyle/>
          <a:p>
            <a:r>
              <a:rPr lang="en-IN" sz="4400" dirty="0"/>
              <a:t>CONCLUSION</a:t>
            </a:r>
          </a:p>
        </p:txBody>
      </p:sp>
      <p:sp>
        <p:nvSpPr>
          <p:cNvPr id="4" name="TextBox 3">
            <a:extLst>
              <a:ext uri="{FF2B5EF4-FFF2-40B4-BE49-F238E27FC236}">
                <a16:creationId xmlns:a16="http://schemas.microsoft.com/office/drawing/2014/main" id="{AE87C3EB-F89C-BC95-0651-58AEC176C996}"/>
              </a:ext>
            </a:extLst>
          </p:cNvPr>
          <p:cNvSpPr txBox="1"/>
          <p:nvPr/>
        </p:nvSpPr>
        <p:spPr>
          <a:xfrm>
            <a:off x="193040" y="1246961"/>
            <a:ext cx="11562080" cy="1711366"/>
          </a:xfrm>
          <a:prstGeom prst="rect">
            <a:avLst/>
          </a:prstGeom>
          <a:noFill/>
        </p:spPr>
        <p:txBody>
          <a:bodyPr wrap="square" rtlCol="0">
            <a:spAutoFit/>
          </a:bodyPr>
          <a:lstStyle/>
          <a:p>
            <a:pPr algn="just">
              <a:lnSpc>
                <a:spcPct val="150000"/>
              </a:lnSpc>
            </a:pPr>
            <a:r>
              <a:rPr lang="en-US" dirty="0"/>
              <a:t>The analysis of IBM HR Analytics data revealed key factors driving employee attrition, including age, Sales department, overtime, low pay, and limited promotions. Insights from this study can help HR design targeted retention programs, improve compensation and career growth strategies, and enhance employee engagement. Future predictive models and dashboards can further support proactive workforce management and reduce turnover.</a:t>
            </a:r>
          </a:p>
        </p:txBody>
      </p:sp>
      <p:sp>
        <p:nvSpPr>
          <p:cNvPr id="3" name="TextBox 2">
            <a:extLst>
              <a:ext uri="{FF2B5EF4-FFF2-40B4-BE49-F238E27FC236}">
                <a16:creationId xmlns:a16="http://schemas.microsoft.com/office/drawing/2014/main" id="{525EADC9-9EAA-9248-1696-EAFD88D4D461}"/>
              </a:ext>
            </a:extLst>
          </p:cNvPr>
          <p:cNvSpPr txBox="1"/>
          <p:nvPr/>
        </p:nvSpPr>
        <p:spPr>
          <a:xfrm>
            <a:off x="10647025" y="6468970"/>
            <a:ext cx="1789470" cy="307777"/>
          </a:xfrm>
          <a:prstGeom prst="rect">
            <a:avLst/>
          </a:prstGeom>
          <a:noFill/>
        </p:spPr>
        <p:txBody>
          <a:bodyPr wrap="square" rtlCol="0">
            <a:spAutoFit/>
          </a:bodyPr>
          <a:lstStyle/>
          <a:p>
            <a:r>
              <a:rPr lang="en-US" sz="1400" dirty="0"/>
              <a:t>GAMYA BEHARA</a:t>
            </a:r>
            <a:endParaRPr lang="en-IN" sz="1400" dirty="0"/>
          </a:p>
        </p:txBody>
      </p:sp>
    </p:spTree>
    <p:extLst>
      <p:ext uri="{BB962C8B-B14F-4D97-AF65-F5344CB8AC3E}">
        <p14:creationId xmlns:p14="http://schemas.microsoft.com/office/powerpoint/2010/main" val="365122434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227</TotalTime>
  <Words>1468</Words>
  <Application>Microsoft Office PowerPoint</Application>
  <PresentationFormat>Widescreen</PresentationFormat>
  <Paragraphs>181</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Wingdings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Gamya Behara</dc:creator>
  <cp:lastModifiedBy>Gamya Behara</cp:lastModifiedBy>
  <cp:revision>6</cp:revision>
  <dcterms:created xsi:type="dcterms:W3CDTF">2025-10-05T13:39:52Z</dcterms:created>
  <dcterms:modified xsi:type="dcterms:W3CDTF">2025-10-06T12:11:56Z</dcterms:modified>
</cp:coreProperties>
</file>